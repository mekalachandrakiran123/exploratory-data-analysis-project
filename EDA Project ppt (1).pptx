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86" r:id="rId3"/>
    <p:sldId id="258" r:id="rId4"/>
    <p:sldId id="285" r:id="rId5"/>
    <p:sldId id="287" r:id="rId6"/>
    <p:sldId id="288" r:id="rId7"/>
    <p:sldId id="289" r:id="rId8"/>
    <p:sldId id="290" r:id="rId9"/>
    <p:sldId id="291" r:id="rId10"/>
    <p:sldId id="298" r:id="rId11"/>
    <p:sldId id="292" r:id="rId12"/>
    <p:sldId id="295" r:id="rId13"/>
    <p:sldId id="296" r:id="rId14"/>
    <p:sldId id="293" r:id="rId15"/>
    <p:sldId id="294" r:id="rId16"/>
    <p:sldId id="297" r:id="rId17"/>
    <p:sldId id="259" r:id="rId18"/>
  </p:sldIdLst>
  <p:sldSz cx="12192000" cy="6858000"/>
  <p:notesSz cx="6858000" cy="9144000"/>
  <p:embeddedFontLst>
    <p:embeddedFont>
      <p:font typeface="Libre Baskerville" panose="02000000000000000000" pitchFamily="2" charset="0"/>
      <p:regular r:id="rId20"/>
      <p:bold r:id="rId21"/>
      <p: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40B74A-786D-47B8-B29D-8EB359CE506F}" v="17" dt="2026-01-09T09:46:43.9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kala chandrakiran" userId="5e178dccc9c26bfb" providerId="LiveId" clId="{4E2DF09F-B196-4EA2-97FF-FA70B69E61C8}"/>
    <pc:docChg chg="addSld modSld sldOrd">
      <pc:chgData name="mekala chandrakiran" userId="5e178dccc9c26bfb" providerId="LiveId" clId="{4E2DF09F-B196-4EA2-97FF-FA70B69E61C8}" dt="2026-01-09T09:53:59.635" v="434" actId="20577"/>
      <pc:docMkLst>
        <pc:docMk/>
      </pc:docMkLst>
      <pc:sldChg chg="modSp mod">
        <pc:chgData name="mekala chandrakiran" userId="5e178dccc9c26bfb" providerId="LiveId" clId="{4E2DF09F-B196-4EA2-97FF-FA70B69E61C8}" dt="2026-01-09T03:57:05.084" v="191" actId="14100"/>
        <pc:sldMkLst>
          <pc:docMk/>
          <pc:sldMk cId="0" sldId="256"/>
        </pc:sldMkLst>
        <pc:spChg chg="mod">
          <ac:chgData name="mekala chandrakiran" userId="5e178dccc9c26bfb" providerId="LiveId" clId="{4E2DF09F-B196-4EA2-97FF-FA70B69E61C8}" dt="2026-01-09T03:57:05.084" v="191" actId="14100"/>
          <ac:spMkLst>
            <pc:docMk/>
            <pc:sldMk cId="0" sldId="256"/>
            <ac:spMk id="99" creationId="{00000000-0000-0000-0000-000000000000}"/>
          </ac:spMkLst>
        </pc:spChg>
      </pc:sldChg>
      <pc:sldChg chg="modSp mod">
        <pc:chgData name="mekala chandrakiran" userId="5e178dccc9c26bfb" providerId="LiveId" clId="{4E2DF09F-B196-4EA2-97FF-FA70B69E61C8}" dt="2026-01-09T04:05:58.629" v="210" actId="20577"/>
        <pc:sldMkLst>
          <pc:docMk/>
          <pc:sldMk cId="0" sldId="258"/>
        </pc:sldMkLst>
        <pc:spChg chg="mod">
          <ac:chgData name="mekala chandrakiran" userId="5e178dccc9c26bfb" providerId="LiveId" clId="{4E2DF09F-B196-4EA2-97FF-FA70B69E61C8}" dt="2026-01-09T04:05:58.629" v="210" actId="20577"/>
          <ac:spMkLst>
            <pc:docMk/>
            <pc:sldMk cId="0" sldId="258"/>
            <ac:spMk id="111" creationId="{00000000-0000-0000-0000-000000000000}"/>
          </ac:spMkLst>
        </pc:spChg>
      </pc:sldChg>
      <pc:sldChg chg="ord">
        <pc:chgData name="mekala chandrakiran" userId="5e178dccc9c26bfb" providerId="LiveId" clId="{4E2DF09F-B196-4EA2-97FF-FA70B69E61C8}" dt="2026-01-09T04:09:54.683" v="222"/>
        <pc:sldMkLst>
          <pc:docMk/>
          <pc:sldMk cId="0" sldId="259"/>
        </pc:sldMkLst>
      </pc:sldChg>
      <pc:sldChg chg="modSp mod">
        <pc:chgData name="mekala chandrakiran" userId="5e178dccc9c26bfb" providerId="LiveId" clId="{4E2DF09F-B196-4EA2-97FF-FA70B69E61C8}" dt="2026-01-09T09:53:59.635" v="434" actId="20577"/>
        <pc:sldMkLst>
          <pc:docMk/>
          <pc:sldMk cId="3565468124" sldId="285"/>
        </pc:sldMkLst>
        <pc:spChg chg="mod">
          <ac:chgData name="mekala chandrakiran" userId="5e178dccc9c26bfb" providerId="LiveId" clId="{4E2DF09F-B196-4EA2-97FF-FA70B69E61C8}" dt="2026-01-09T09:53:59.635" v="434" actId="20577"/>
          <ac:spMkLst>
            <pc:docMk/>
            <pc:sldMk cId="3565468124" sldId="285"/>
            <ac:spMk id="2" creationId="{56806E2D-58F6-4DD1-128D-B59058E9A1D4}"/>
          </ac:spMkLst>
        </pc:spChg>
      </pc:sldChg>
      <pc:sldChg chg="modSp mod">
        <pc:chgData name="mekala chandrakiran" userId="5e178dccc9c26bfb" providerId="LiveId" clId="{4E2DF09F-B196-4EA2-97FF-FA70B69E61C8}" dt="2026-01-09T03:43:53.371" v="117" actId="20577"/>
        <pc:sldMkLst>
          <pc:docMk/>
          <pc:sldMk cId="2210277454" sldId="286"/>
        </pc:sldMkLst>
        <pc:spChg chg="mod">
          <ac:chgData name="mekala chandrakiran" userId="5e178dccc9c26bfb" providerId="LiveId" clId="{4E2DF09F-B196-4EA2-97FF-FA70B69E61C8}" dt="2026-01-09T03:43:53.371" v="117" actId="20577"/>
          <ac:spMkLst>
            <pc:docMk/>
            <pc:sldMk cId="2210277454" sldId="286"/>
            <ac:spMk id="2" creationId="{22108A3D-51E7-7EF2-A4E1-9206E87CBB0C}"/>
          </ac:spMkLst>
        </pc:spChg>
      </pc:sldChg>
      <pc:sldChg chg="modSp mod">
        <pc:chgData name="mekala chandrakiran" userId="5e178dccc9c26bfb" providerId="LiveId" clId="{4E2DF09F-B196-4EA2-97FF-FA70B69E61C8}" dt="2026-01-09T03:39:25.935" v="103" actId="20577"/>
        <pc:sldMkLst>
          <pc:docMk/>
          <pc:sldMk cId="2837502525" sldId="287"/>
        </pc:sldMkLst>
        <pc:spChg chg="mod">
          <ac:chgData name="mekala chandrakiran" userId="5e178dccc9c26bfb" providerId="LiveId" clId="{4E2DF09F-B196-4EA2-97FF-FA70B69E61C8}" dt="2026-01-09T03:39:25.935" v="103" actId="20577"/>
          <ac:spMkLst>
            <pc:docMk/>
            <pc:sldMk cId="2837502525" sldId="287"/>
            <ac:spMk id="2" creationId="{ADA76E5E-2B0F-5E8B-77A9-98371C1475D8}"/>
          </ac:spMkLst>
        </pc:spChg>
      </pc:sldChg>
      <pc:sldChg chg="modSp mod">
        <pc:chgData name="mekala chandrakiran" userId="5e178dccc9c26bfb" providerId="LiveId" clId="{4E2DF09F-B196-4EA2-97FF-FA70B69E61C8}" dt="2026-01-09T09:51:22.665" v="387" actId="20577"/>
        <pc:sldMkLst>
          <pc:docMk/>
          <pc:sldMk cId="1814155984" sldId="288"/>
        </pc:sldMkLst>
        <pc:spChg chg="mod">
          <ac:chgData name="mekala chandrakiran" userId="5e178dccc9c26bfb" providerId="LiveId" clId="{4E2DF09F-B196-4EA2-97FF-FA70B69E61C8}" dt="2026-01-09T09:51:22.665" v="387" actId="20577"/>
          <ac:spMkLst>
            <pc:docMk/>
            <pc:sldMk cId="1814155984" sldId="288"/>
            <ac:spMk id="2" creationId="{0D45A36B-C275-31C7-6258-37AC7FE06233}"/>
          </ac:spMkLst>
        </pc:spChg>
        <pc:picChg chg="mod">
          <ac:chgData name="mekala chandrakiran" userId="5e178dccc9c26bfb" providerId="LiveId" clId="{4E2DF09F-B196-4EA2-97FF-FA70B69E61C8}" dt="2026-01-09T09:48:56.208" v="326" actId="1076"/>
          <ac:picMkLst>
            <pc:docMk/>
            <pc:sldMk cId="1814155984" sldId="288"/>
            <ac:picMk id="4" creationId="{72E120EE-A60C-8DED-BCAB-EB89552797F1}"/>
          </ac:picMkLst>
        </pc:picChg>
      </pc:sldChg>
      <pc:sldChg chg="modSp mod">
        <pc:chgData name="mekala chandrakiran" userId="5e178dccc9c26bfb" providerId="LiveId" clId="{4E2DF09F-B196-4EA2-97FF-FA70B69E61C8}" dt="2026-01-09T03:47:01.785" v="124" actId="20577"/>
        <pc:sldMkLst>
          <pc:docMk/>
          <pc:sldMk cId="1149738793" sldId="293"/>
        </pc:sldMkLst>
        <pc:spChg chg="mod">
          <ac:chgData name="mekala chandrakiran" userId="5e178dccc9c26bfb" providerId="LiveId" clId="{4E2DF09F-B196-4EA2-97FF-FA70B69E61C8}" dt="2026-01-09T03:47:01.785" v="124" actId="20577"/>
          <ac:spMkLst>
            <pc:docMk/>
            <pc:sldMk cId="1149738793" sldId="293"/>
            <ac:spMk id="2" creationId="{6B1365E2-3CA8-3158-3F99-CDD55BFA7F52}"/>
          </ac:spMkLst>
        </pc:spChg>
      </pc:sldChg>
      <pc:sldChg chg="modSp mod">
        <pc:chgData name="mekala chandrakiran" userId="5e178dccc9c26bfb" providerId="LiveId" clId="{4E2DF09F-B196-4EA2-97FF-FA70B69E61C8}" dt="2026-01-09T03:52:38.428" v="184" actId="20577"/>
        <pc:sldMkLst>
          <pc:docMk/>
          <pc:sldMk cId="1004161842" sldId="294"/>
        </pc:sldMkLst>
        <pc:spChg chg="mod">
          <ac:chgData name="mekala chandrakiran" userId="5e178dccc9c26bfb" providerId="LiveId" clId="{4E2DF09F-B196-4EA2-97FF-FA70B69E61C8}" dt="2026-01-09T03:52:38.428" v="184" actId="20577"/>
          <ac:spMkLst>
            <pc:docMk/>
            <pc:sldMk cId="1004161842" sldId="294"/>
            <ac:spMk id="2" creationId="{FBF986F2-6CDA-8A0F-FF96-EC0EA2A3D2C4}"/>
          </ac:spMkLst>
        </pc:spChg>
      </pc:sldChg>
      <pc:sldChg chg="addSp delSp modSp new mod">
        <pc:chgData name="mekala chandrakiran" userId="5e178dccc9c26bfb" providerId="LiveId" clId="{4E2DF09F-B196-4EA2-97FF-FA70B69E61C8}" dt="2026-01-09T04:09:46.946" v="218" actId="1076"/>
        <pc:sldMkLst>
          <pc:docMk/>
          <pc:sldMk cId="1284083675" sldId="297"/>
        </pc:sldMkLst>
        <pc:spChg chg="add del mod">
          <ac:chgData name="mekala chandrakiran" userId="5e178dccc9c26bfb" providerId="LiveId" clId="{4E2DF09F-B196-4EA2-97FF-FA70B69E61C8}" dt="2026-01-09T04:09:37.989" v="216"/>
          <ac:spMkLst>
            <pc:docMk/>
            <pc:sldMk cId="1284083675" sldId="297"/>
            <ac:spMk id="2" creationId="{A01D404F-8B68-E034-5BDC-F6EAA96196DD}"/>
          </ac:spMkLst>
        </pc:spChg>
        <pc:picChg chg="add mod">
          <ac:chgData name="mekala chandrakiran" userId="5e178dccc9c26bfb" providerId="LiveId" clId="{4E2DF09F-B196-4EA2-97FF-FA70B69E61C8}" dt="2026-01-09T04:09:46.946" v="218" actId="1076"/>
          <ac:picMkLst>
            <pc:docMk/>
            <pc:sldMk cId="1284083675" sldId="297"/>
            <ac:picMk id="1026" creationId="{30EA60C9-B5EE-F5FD-D515-2094B556EF03}"/>
          </ac:picMkLst>
        </pc:picChg>
      </pc:sldChg>
      <pc:sldChg chg="addSp delSp modSp new mod">
        <pc:chgData name="mekala chandrakiran" userId="5e178dccc9c26bfb" providerId="LiveId" clId="{4E2DF09F-B196-4EA2-97FF-FA70B69E61C8}" dt="2026-01-09T09:41:14.808" v="264" actId="20577"/>
        <pc:sldMkLst>
          <pc:docMk/>
          <pc:sldMk cId="2727683358" sldId="298"/>
        </pc:sldMkLst>
        <pc:spChg chg="add del mod">
          <ac:chgData name="mekala chandrakiran" userId="5e178dccc9c26bfb" providerId="LiveId" clId="{4E2DF09F-B196-4EA2-97FF-FA70B69E61C8}" dt="2026-01-09T09:38:38.782" v="230"/>
          <ac:spMkLst>
            <pc:docMk/>
            <pc:sldMk cId="2727683358" sldId="298"/>
            <ac:spMk id="2" creationId="{381679EF-9E17-E3C6-C2AF-BBEBA9A4C929}"/>
          </ac:spMkLst>
        </pc:spChg>
        <pc:spChg chg="add mod">
          <ac:chgData name="mekala chandrakiran" userId="5e178dccc9c26bfb" providerId="LiveId" clId="{4E2DF09F-B196-4EA2-97FF-FA70B69E61C8}" dt="2026-01-09T09:41:14.808" v="264" actId="20577"/>
          <ac:spMkLst>
            <pc:docMk/>
            <pc:sldMk cId="2727683358" sldId="298"/>
            <ac:spMk id="5" creationId="{0EF6DEF8-96F5-8E1B-1E2D-CBD6086E6840}"/>
          </ac:spMkLst>
        </pc:spChg>
        <pc:picChg chg="add mod">
          <ac:chgData name="mekala chandrakiran" userId="5e178dccc9c26bfb" providerId="LiveId" clId="{4E2DF09F-B196-4EA2-97FF-FA70B69E61C8}" dt="2026-01-09T09:40:59.047" v="260" actId="14100"/>
          <ac:picMkLst>
            <pc:docMk/>
            <pc:sldMk cId="2727683358" sldId="298"/>
            <ac:picMk id="4" creationId="{6844DE95-E906-B45C-F00D-EC222FDA1068}"/>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06:24:34.979"/>
    </inkml:context>
    <inkml:brush xml:id="br0">
      <inkml:brushProperty name="width" value="0.35" units="cm"/>
      <inkml:brushProperty name="height" value="0.35" units="cm"/>
      <inkml:brushProperty name="color" value="#FFFFFF"/>
    </inkml:brush>
  </inkml:definitions>
  <inkml:trace contextRef="#ctx0" brushRef="#br0">204 440 24575,'615'0'0,"430"0"-37,-1028-1 53,-1-1-1,32-7 0,-30 5-18,0 1 0,23-2 0,-12 4 3,12 1 0,77-12 0,15-2 0,-23 4 0,133-14 0,-191 19 0,-1 2 0,57 4 0,59-3 0,-91-10 0,-48 7 0,43-2 0,-126 11-223,-77 14 1,34-3-186,-995 191-2838,1057-198 3866,22-6 14,0 1 1,0 0-1,1 1 1,-25 10-1,69-9-327,105-10-643,205-34-1,-168 16 194,61-6 143,-218 27 204,0 0 0,0-2 0,16-5 0,-79 3-204,-217 9-2299,-290 41 0,-46 53 395,305-45 1908,-358 53-1760,406-55 1915,171-29 4282,309-118-1464,-37 13-4953,71-13-1137,337-76 0,614-70 999,-1059 221 2380,10-1 905,217-58 0,-289 50 889,-75 25-3926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06:24:46.793"/>
    </inkml:context>
    <inkml:brush xml:id="br0">
      <inkml:brushProperty name="width" value="0.35" units="cm"/>
      <inkml:brushProperty name="height" value="0.35" units="cm"/>
      <inkml:brushProperty name="color" value="#FFFFFF"/>
    </inkml:brush>
  </inkml:definitions>
  <inkml:trace contextRef="#ctx0" brushRef="#br0">7060 952 24575,'-27'-10'0,"4"1"0,-63 0 0,17 3 0,-103-22 0,-305-22-131,4 44-498,290 7 601,112 2 28,0 2 0,0 4 0,1 3 0,-91 27 0,-262 117 0,323-108 159,-99 65 0,168-95 225,-13 12-328,41-28-53,0 0-1,1 0 1,-1 0-1,0 1 1,1-1-1,0 1 1,-1 0-1,1 0 1,0 0-1,1 0 1,-4 7-1,5-10-2,0 1 0,0 0 0,0 0 0,0 0 0,0 0 0,1-1 0,-1 1 0,0 0 0,1 0 0,-1 0 0,0-1 0,1 1 0,-1 0 0,1 0 0,-1-1 0,1 1 0,-1 0 0,1-1 0,0 1 0,-1-1 0,1 1 0,0-1 0,-1 1 0,1-1 0,0 1 0,0-1 0,-1 0 0,1 0 0,1 1 0,27 8 0,-29-9 0,43 7-341,0-2-1,57-1 0,-20-1-200,1156 11-7243,-416-71 4175,-1-34 899,-418 45 2154,1574-211 459,-1703 215 390,212-37 425,-152 9 5616,-365 84-4539,21-9-1724,-84 35 1636,-375 147-1381,-21-4-3123,-189 67-965,-436 119 1480,-242 87-165,956-316 2797,-248 93 1026,20 41-328,626-272-993,-21 11 629,0 1 0,1 1-1,-25 22 1508,65-43-1487,24-13-87,183-109-426,395-211-3165,-56 91 354,72 22 3246,-619 222-640,1703-498-1826,54 124 210,-678 190 3867,-1070 184-1939,127-28 3260,-201 38 375,18 4-2781,0 2 1,1 2-1,-56 31 1,-12 6 489,71-37-1641,17-8 0,-1 0 0,0-1 0,0 0 0,0-1 0,-16 3 0,-1415 170-8821,716-97 5306,-81 1 1554,-307 39 2534,1024-108 277,25-4 1562,-101 24-1,230-54 486,65-34-1,-58 24-2043,240-100-4460,505-143 0,69 99 1893,-621 132 1816,-255 43-97,230-48 2972,-310 72-553,-73 35 0,-83 48-3768,67-30 288,-921 381-5737,611-274 5895,-188 75 744,543-211 548,17-8 2054,-121 66-1,142-61 2541,93-43-4057,18-4-53,43-18-876,-1-4 0,139-67 0,-126 52-141,120-39 1,-192 74 138,-8 4 0,0 0 0,-1-1 0,0 0 0,1 0 0,-1 0 0,0-1 0,0 0 0,0-1 0,0 1 0,6-6 0,-13 8 14,1 1 1,0-1 0,-1 1 0,1-1 0,-1 1 0,1-1 0,-1 1-1,1-1 1,-1 1 0,0 0 0,1-1 0,-1 1 0,1 0 0,-1-1-1,0 1 1,1 0 0,-1 0 0,0 0 0,1 0 0,-1-1-1,0 1 1,1 0 0,-1 0 0,0 0 0,1 0 0,-1 0 0,0 1-1,-24-3 402,-548 1-2420,262 3 1203,208 0 561,-112-4-280,214 2 549,0 0 0,1 0 0,-1 0-1,0 0 1,0 0 0,0-1 0,0 1 0,0 0 0,0 0-1,0-1 1,0 1 0,0 0 0,0-1 0,0 1 0,0-1 0,1 1-1,-1-1 1,0 0 0,0 1 0,1-1 0,-1 0 0,0 1-1,0-2 1,1 1 18,0-1 0,-1 1 0,1 0-1,0 0 1,0 0 0,0 0 0,1 0-1,-1 0 1,0 0 0,0 0 0,1 0-1,-1 0 1,0 0 0,1 0 0,-1 0-1,1 0 1,-1 0 0,2 0 0,4-8 347,1 0 0,0 1 0,13-10 0,-13 11-184,33-30-111,80-57 0,-117 92-99,0 0 0,0 0 0,-1 0 0,1 0 0,-1-1 0,0 1 0,1-1 0,-1 1 0,2-5 0,-4 7 0,0 0 0,0-1 0,0 1 0,0-1 0,1 1 0,-1 0 0,0-1 0,0 1 0,0-1 0,0 1 0,0-1 0,0 1 0,0-1 0,0 1 0,0 0 0,-1-1 0,1 1 0,0-1 0,0 1 0,0-1 0,0 1 0,-1 0 0,1-1 0,0 1 0,0 0 0,-1-1 0,1 1 0,-1-1 0,-1 0 0,1 0 0,0 0 0,-1 1 0,1-1 0,-1 0 0,1 1 0,-1 0 0,1-1 0,-1 1 0,1 0 0,-3-1 0,-30-1-83,0 1 0,-1 1 1,1 2-1,-35 7 0,-134 32-389,184-37 467,-61 15-32,-133 27 133,224-48 86,0-2 0,-1 0 0,0 0 0,20-11 0,54-36-485,-30 18-335,347-180 256,-196 112 292,-188 89 40,-17 11 63,0 1 1,0 0-1,0 0 1,-1-1-1,1 1 0,0 0 1,0 0-1,-1 0 0,1-1 1,0 1-1,0 0 1,-1 0-1,1 0 0,0 0 1,-1-1-1,1 1 1,0 0-1,-1 0 0,1 0 1,0 0-1,-1 0 1,1 0-1,0 0 0,-1 0 1,1 0-1,0 0 1,-1 0-1,1 0 0,0 0 1,-1 0-1,1 1 1,-43 5 820,-12 12-776,-101 47 1,60-22-54,-116 50-5,209-93 0,6-4 0,14-13 0,28-20 0,11-5 0,87-85 0,-142 127 0,0-1 0,-1 1 0,1 0 0,-1-1 0,1 1 0,-1 0 0,1-1 0,-1 1 0,1-1 0,-1 1 0,0-1 0,1 1 0,-1-1 0,0 1 0,1-1 0,-1 0 0,0 1 0,0-1 0,1 1 0,-1-1 0,0 0 0,0 1 0,0-1 0,0 0 0,0 1 0,0-1 0,0 0 0,0 1 0,0-1 0,0 1 0,0-1 0,-1-1 0,-17-4 0,-5-1 0,23 7 0,-1-1 0,0 1 0,1 0 0,-1-1 0,1 1 0,0-1 0,-1 1 0,1-1 0,-1 0 0,1 1 0,0-1 0,-1 1 0,1-1 0,0 1 0,0-1 0,0 0 0,-1 1 0,1-1 0,0 0 0,0 1 0,0-1 0,0 0 0,0 1 0,0-1 0,0 0 0,0 1 0,0-1 0,0 0 0,1 1 0,-1-1 0,0 1 0,1-2 0,1-2 0,0-1 0,1 1 0,-1-1 0,1 1 0,0 0 0,0 0 0,1 0 0,7-6 0,37-29 0,-34 29 0,106-77-624,138-75 0,-83 56 514,-167 99 313,-14 7 248,-18 8 234,-646 283-2397,269-120 912,-292 117 800,408-170-332,-58 25-118,301-125 478,12-5 772,-1 1 0,-31 21-1,62-35-783,0 0 0,0 0 0,-1 0 0,1 0 0,0 0 0,0 0-1,0 0 1,-1 0 0,1 0 0,0 0 0,0 0 0,0 0 0,0 0-1,-1 0 1,1 0 0,0 0 0,0 0 0,0 0 0,0 1 0,-1-1-1,1 0 1,0 0 0,0 0 0,0 0 0,0 0 0,0 0 0,0 1-1,-1-1 1,1 0 0,0 0 0,0 0 0,0 0 0,0 1 0,0-1-1,0 0 1,0 0 0,0 0 0,0 1 0,0-1 0,0 0 0,0 0-1,0 0 1,0 1 0,0-1 0,0 0 0,0 0 0,0 0 0,0 0-1,0 1 1,0-1 0,13-1 125,23-10-205,194-90-1230,100-39-1352,1141-298-1409,-1470 438 4046,605-150-1101,-543 126 1651,-49 17 113,1 1 0,1 1 0,-1 0 0,1 1 0,19 8 2070,-35-4-2674,-14 15 779,-31 19 100,-70 42 0,70-48-1008,-81 66 0,2 0 79,82-64 0,-56 50 0,80-65 0,-1-1 0,0-1 0,-27 15 0,8-6 0,-108 55 0,60-35 0,19-7 0,-130 49 0,288-82 0,591-95-783,-410 48 587,112-27 1175,-466 74-979,-27 18-841,-205 65 0,84-19-421,16-13 1262,-215 56 0,265-72-234,13-4 21,135-27 422,16-6-202,0 0 1,0 0 0,0 0 0,0 0 0,0 0-1,0 0 1,0 0 0,0 0 0,0 0 0,0 0-1,-1 0 1,1 0 0,0 0 8,0 1-1,0-1-7,0 0 0,0 0 0,0 0-1,0 0 1,0 0 0,0 0 0,0 0 0,0 0-1,0 0 1,0 0 0,0 0 0,0 1 0,0-1-1,0 0 1,0 0 0,0 0 0,0 0 0,0 0-1,0 0 1,0 0 0,0 0 0,0 0 0,0 0-1,0 1 1,0-1 0,0 0 0,0 0 0,0 0-1,0 0 1,0 0 0,0 0 0,0 0 23,0 0-23,0 0 0,0 0-1,1 1 1,-1-1 0,0 0 0,0 0 0,0 0-1,0 0 1,0 0 0,0 0 0,0 0 0,29-1 1190,147-42-980,-52 10-400,548-109-1481,-413 90 1275,589-79-1487,-495 84 1382,446-17 493,-412 43-547,90-2-204,-281 11 1560,-9 1 1573,20 0-1849,8-1 615,34 0-1099,15 0-59,-116 0 1105,4 0 57,-243 17-1653,-113 21-1,134-15-142,-699 115-4657,236-35 2199,-311 52 2782,327-46-448,175-25 4154,274-63-1357,51-8-1062,0 1 1,0 1-1,-33 11 1469,59-14-2015,19-6-457,125-54-319,70-23-1706,739-151-4501,17 87 4486,-233 57 2093,-293 37-235,-443 51 290,66-7 2141,136-1 1,-230 11-1493,-1 2 0,1-1 1,0 2-1,1 1 1,-1 0-1,-21 10 0,-1-1-76,-58 17-917,-1152 350-3737,512-153 3209,669-208 1378,46-14-61,0 1 0,0 1-1,-40 24 1817,81-38-1303,90-54-397,-13 5-1597,108-41-748,319-103 1,231-22-1524,-701 206 3215,742-180 1542,-773 188 282,-35 6-267,-35 2 37,-29 6-1732,-114 23 0,-75 35-2310,61-14 953,-768 150-3999,-167 38 3939,855-177 1967,-58 15 3248,202-40 3793,204-48-6286,138-49-1667,401-97-2237,601-11-878,-1026 148 7138,-250 63-152,-102 36-4048,-90 42 31,92-42 422,-44 24 841,202-93 276,29-12-645,30-12-261,381-123-608,-380 125 641,-3-1 0,1 3 0,64-8 0,-392 21-386,87-4-941,-442 47-1944,3 40 2581,-270 30-254,864-112 1306,26-3 252,0 0 1,1 2-1,-1 0 0,-28 9 0,114-22 3066,686-106-6326,7 33-2657,48-5 2137,280-37 3082,-973 117 979,-57 5 1185,100-19 1,-275 36 2834,-372 123-6591,384-105 1919,-153 54-243,-104 31 0,-59 21-906,348-112 700,-4 4 148,42-15 1020,-46 12-1,70-25-716,9-6 61,16-11 374,28-16 143,1 6-823,-33 20 0,-1-1 0,0 1 0,0-2 0,0 0 0,-1 0 0,11-11 0,-19 18 0,-1 0 0,0-1 0,0 1 0,0 0 0,0 0 0,0 0 0,0-1 0,1 1 0,-1 0 0,0 0 0,0-1 0,0 1 0,0 0 0,0 0 0,0-1 0,0 1 0,0 0 0,0 0 0,0-1 0,0 1 0,0 0 0,0 0 0,-1-1 0,1 1 0,0 0 0,0 0 0,0 0 0,0-1 0,0 1 0,0 0 0,0 0 0,-1 0 0,1-1 0,0 1 0,0 0 0,0 0 0,-1 0 0,1 0 0,0-1 0,0 1 0,0 0 0,-1 0 0,1 0 0,0 0 0,0 0 0,-1 0 0,1 0 0,0 0 0,0 0 0,-1 0 0,1 0 0,0 0 0,0 0 0,-1 0 0,1 0 0,0 0 0,-19-2 0,18 2 0,-382 0 0,162 2 0,192-2 0,0-1 0,-1 1 0,1 1 0,-1 2 0,1 1 0,-57 15 0,43-7 0,0-3 0,0-1 0,-84 4 0,61-7 0,-14 6 0,-21 1 0,623-15-3043,-272 5 1674,219-1-1789,540-3-849,0-58 3036,-676 33 198,25 2 676,728-71 141,-88-27 3987,-886 108-3029,263-44 6374,-339 51-7005,60-17 223,-108 22-594,-14 1 0,-829-21-5007,-137 0-1449,642 21 6239,-673 4 401,3 40-1607,283-11 1886,725-31-432,-194 8 832,74 4 2830,339-44 769,117-15-4767,736-37-3661,5 32-727,-837 42 4470,1056-74-404,-323-32 2970,-891 106-1137,-16 3 1631,64-16 1,-170 21 111,-33 3-2924,-441 4-3329,-2 28-54,-457 109 1446,608-76 1870,-499 100 402,837-157 245,-189 30 4233,239-49-4143,14-9-24,105-51-1014,2 4 1,194-65 0,288-46-2063,-445 133 2086,410-97 413,133-36-1650,-703 175 1561,381-98 5648,-423 106-4682,-30 17-919,-87 44 1,37-14-228,-349 129-790,-80 36-260,428-168 1049,-192 97-1425,212-92 1843,-88 49 4478,168-96-4599,14-8-120,0 0-1,0 0 0,0 0 0,0 0 1,0 0-1,0 0 0,0 0 1,1 0-1,-1 0 0,0 0 1,0 0-1,0 0 0,0 0 0,0 0 1,0 0-1,0 0 0,0 0 1,0 1-1,0-1 0,0 0 1,0 0-1,0 0 0,0 0 0,0 0 1,0 0-1,1 0 0,-1 0 1,0 0-1,0 0 0,0 0 1,0 0-1,0 0 0,0 0 0,0 0 1,0 0-1,0 0 0,0 1 1,0-1-1,0 0 0,0 0 1,0 0-1,0 0 0,0 0 0,0 0 1,0 0-1,0 0 0,0 0 1,0 0-1,0 0 0,0 0 1,0 0-1,0 0 0,0 0 0,-1 1 1,1-1-1,0 0 0,0 0 1,0 0-1,0 0 0,0 0 1,0 0-1,0 0 0,0 0 0,27-7-11,182-80-815,-84 33 129,173-50-1,-245 90 791,291-86-672,-310 85 1319,-28 8-42,-24 4-69,-37 6-788,1 3 0,1 3 0,-100 28 0,123-29-56,-518 138-2253,-216 56 2436,423-113-1418,306-80 2834,-1 2 1,-49 26 934,94-36-2002,13-3-281,205-69-948,-98 27-262,206-47-720,417-58 0,339-2-752,-346 60 1908,-635 73 2266,-23 5 4296,-115 14-5156,0 2 0,-29 6 0,-115 34-2074,123-30 1081,-237 69-1769,-174 45-465,-465 123 1719,814-219-5,-172 59 1093,99-22 3679,158-51-1050,40-21-2099,245-97-1704,157-54-2075,605-149-1039,-555 152 2803,-161 36 3561,-263 100-358,-93 12 1966,-396 39-4504,4 30-2774,-664 149 620,1092-211 2622,-651 156 774,592-134 324,45-14 640,0-2 1,-47 9 0,130-32-1423,-1-2 1,69-31-1,-3 1-1395,813-230-1876,-824 250 3209,335-85-3066,-257 57 4471,-159 41 618,-28 13-2149,-10-3 723,-18 1 2,-94 5-794,-148 23 0,162-13-625,-842 106-5516,309-36 2928,-497 101 4126,1004-155 2242,151-40-2175,27-15 52,79-47 1216,171-88-1016,-87 75-2351,324-89 1,238-5 2932,-809 179-162,36 1-1619,-1007 9-4371,2 35-20,867-36 3862,-173 18 2824,302-21-559,36-7-499,26-9 232,65-25 0,-25 7-687,333-83-4391,477-61-1,-268 91 1564,-106 16 1132,-463 57 804,302-38 393,-105 32 5715,-289 16-4353,-186 10 1623,-112 22-3982,-44 3-1685,80-18 1087,-510 48-842,718-55 1637,-338 55 849,269-26 4058,193-39-1429,359-61-4131,-181 20-421,698-52-4098,6 62 2385,-703 25 3450,1074-3-674,-860 18 6869,-432-10-6297,-31 15 1506,10-8-1010,-323 128 3114,-479 192-5738,582-238 808,-77 24 967,16-11 5492,296-99-5122,-3 1-40,0 0-1,0-1 0,0 0 1,0-1-1,-16 3 0,24-5-8,1 0 0,0 0 0,0 0 0,-1 0 0,1 0 0,0 0 0,0-1 0,-1 1 0,1 0 0,0 0 0,0 0 0,0 0 0,-1 0 0,1-1 0,0 1 0,0 0 0,0 0 0,0 0 0,-1-1 0,1 1 0,0 0 0,0 0 0,0 0 0,0-1 0,0 1 0,0 0 0,0 0 0,-1-1 0,1 1 0,0 0 0,0 0 0,0-1 0,0 1 0,0 0 0,0 0 0,0-1 0,0 1 0,1 0 0,-1 0 0,0-1 0,0 1 0,0 0 0,0 0 0,0-1 0,0 1 0,0 0 0,0 0 0,1 0 0,-1-1 0,0 1 0,0 0 0,0 0 0,1 0 0,-1 0 0,0-1 0,0 1 0,0 0 0,1 0 0,-1 0 0,0 0 0,13-14 0,137-126 0,-135 119 0,-14 20 0,-1 1 0,0-1 0,0 0 0,0 0 0,0 1 0,1-1 0,-1 0 0,0 1 0,0-1 0,0 0 0,0 1 0,-1-1 0,1 0 0,0 1 0,0-1 0,0 0 0,-1 1 0,1-1 0,0 0 0,0 1 0,-1-1 0,-2-1 0,1 0 0,0 0 0,-1 0 0,1 1 0,-1-1 0,0 1 0,0 0 0,0-1 0,1 2 0,-1-1 0,0 0 0,0 0 0,-3 1 0,-60-10-597,0 3-1,-82 2 1,32 2-345,-891-19-5879,335 26 5296,341 12 1868,-559 99 0,752-85 2712,158-45-1089,328-163 1184,-114 73-5822,390-115 0,478-106 1542,-1078 319 1218,-7 3 569,0-2-1,28-17 1392,-45 23-2022,-11-6 701,-18 0 78,-313-15 120,205 16-1640,-1112-27-5737,-2 31 2115,604 3 2520,-808 29 1526,5 79 285,588-10-2,9 29 48,46 66 822,476-76 2984,328-118-3770,-23 14 1774,35-12-827,197-2 2841,-100-4-3093,2104 0-10603,-1210 4 9429,-141 27-154,-454-11 700,366 20 1935,-538-25-234,-90-1 32,93 2 6227,-431-11-7475,-111 4-3216,-1309 10-6145,1081-18 6653,-2106-91-723,2380 74 2821,-1315-92 431,1395 102 65,-178-15 3349,355 23-3715,0 1 1,0 0-1,0-1 1,0 0-1,0 0 1,0 0-1,0 0 1,0 0-1,1-1 1,-1 1-1,-3-3 1,6 3-104,-1 1 0,1 0 0,-1-1 0,1 1 0,0-1 1,-1 1-1,1-1 0,0 1 0,0-1 0,-1 1 0,1-1 0,0 1 0,0-1 1,0 1-1,0-1 0,0 1 0,0-1 0,0 1 0,0-1 0,0 1 0,0-1 0,0 1 1,0-1-1,0 1 0,0-1 0,1-1 25,0 1 0,-1 0-1,1-1 1,0 1 0,0 0 0,0 0-1,0 0 1,0 0 0,1 0 0,-1 0 0,0 0-1,0 0 1,2-1 0,38-19 975,1 2-1,1 1 1,78-20 0,-61 19-324,904-216-5463,191 75 935,-422 68 3223,-205 39 5555,-488 51-3987,0 1 1849,70-11 1,-97 10-2806,0 1 0,0 0 0,0 1 1,0 0-1,0 1 0,0 0 0,19 5 1,7 5-27,41 16 1,-14-3-16,-21-10-3,287 79-638,-81-38 487,19 4 200,-264-58-16,26 5 252,-23-1-75,-17 1-4,-26 2-143,0-1 1,-57 2-1,62-6-55,-251 29-212,-177 14-236,293-35 687,-90 3 214,231-14-786,0 2 0,0 0-1,-26 7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ustomXml" Target="../ink/ink2.xml"/><Relationship Id="rId5" Type="http://schemas.openxmlformats.org/officeDocument/2006/relationships/image" Target="../media/image3.png"/><Relationship Id="rId4" Type="http://schemas.openxmlformats.org/officeDocument/2006/relationships/customXml" Target="../ink/ink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190512"/>
            <a:ext cx="12190815" cy="6694098"/>
          </a:xfrm>
          <a:prstGeom prst="rect">
            <a:avLst/>
          </a:prstGeom>
          <a:noFill/>
          <a:ln>
            <a:noFill/>
          </a:ln>
        </p:spPr>
      </p:pic>
      <p:sp>
        <p:nvSpPr>
          <p:cNvPr id="99" name="Google Shape;99;p1"/>
          <p:cNvSpPr txBox="1"/>
          <p:nvPr/>
        </p:nvSpPr>
        <p:spPr>
          <a:xfrm>
            <a:off x="2487561" y="3739608"/>
            <a:ext cx="8059722" cy="1077178"/>
          </a:xfrm>
          <a:prstGeom prst="rect">
            <a:avLst/>
          </a:prstGeom>
          <a:noFill/>
          <a:ln>
            <a:noFill/>
          </a:ln>
        </p:spPr>
        <p:txBody>
          <a:bodyPr spcFirstLastPara="1" wrap="square" lIns="91425" tIns="45700" rIns="91425" bIns="45700" anchor="t" anchorCtr="0">
            <a:spAutoFit/>
          </a:bodyPr>
          <a:lstStyle/>
          <a:p>
            <a:pPr lvl="0" algn="ctr">
              <a:buSzPts val="1800"/>
            </a:pPr>
            <a:r>
              <a:rPr lang="en-US" sz="3200" dirty="0">
                <a:solidFill>
                  <a:srgbClr val="FF0000"/>
                </a:solidFill>
                <a:latin typeface="Times New Roman" panose="02020603050405020304" pitchFamily="18" charset="0"/>
                <a:cs typeface="Times New Roman" panose="02020603050405020304" pitchFamily="18" charset="0"/>
              </a:rPr>
              <a:t>Exploratory Data Analysis of the Used Car Resale Market</a:t>
            </a:r>
            <a:endParaRPr sz="3200" b="1" i="0" u="none" strike="noStrike" cap="none" dirty="0">
              <a:solidFill>
                <a:srgbClr val="FF0000"/>
              </a:solidFill>
              <a:latin typeface="Times New Roman" panose="02020603050405020304" pitchFamily="18" charset="0"/>
              <a:cs typeface="Times New Roman" panose="02020603050405020304" pitchFamily="18" charset="0"/>
              <a:sym typeface="Arial"/>
            </a:endParaRPr>
          </a:p>
        </p:txBody>
      </p:sp>
      <p:sp>
        <p:nvSpPr>
          <p:cNvPr id="2" name="TextBox 1">
            <a:extLst>
              <a:ext uri="{FF2B5EF4-FFF2-40B4-BE49-F238E27FC236}">
                <a16:creationId xmlns:a16="http://schemas.microsoft.com/office/drawing/2014/main" id="{1C8C3882-6F42-D0A4-9022-D3BE52284815}"/>
              </a:ext>
            </a:extLst>
          </p:cNvPr>
          <p:cNvSpPr txBox="1"/>
          <p:nvPr/>
        </p:nvSpPr>
        <p:spPr>
          <a:xfrm>
            <a:off x="8308257" y="5152102"/>
            <a:ext cx="2962425" cy="1525418"/>
          </a:xfrm>
          <a:prstGeom prst="rect">
            <a:avLst/>
          </a:prstGeom>
          <a:noFill/>
        </p:spPr>
        <p:txBody>
          <a:bodyPr wrap="square" rtlCol="0">
            <a:spAutoFit/>
          </a:bodyPr>
          <a:lstStyle/>
          <a:p>
            <a:pPr>
              <a:lnSpc>
                <a:spcPct val="150000"/>
              </a:lnSpc>
            </a:pPr>
            <a:r>
              <a:rPr lang="en-US" sz="1600" b="1" dirty="0">
                <a:latin typeface="Times New Roman" panose="02020603050405020304" pitchFamily="18" charset="0"/>
                <a:cs typeface="Times New Roman" panose="02020603050405020304" pitchFamily="18" charset="0"/>
              </a:rPr>
              <a:t>Presented by: </a:t>
            </a:r>
            <a:r>
              <a:rPr lang="en-US" sz="1600" dirty="0">
                <a:latin typeface="Times New Roman" panose="02020603050405020304" pitchFamily="18" charset="0"/>
                <a:cs typeface="Times New Roman" panose="02020603050405020304" pitchFamily="18" charset="0"/>
              </a:rPr>
              <a:t>M. Chandra </a:t>
            </a:r>
            <a:r>
              <a:rPr lang="en-US" sz="1600" dirty="0" err="1">
                <a:latin typeface="Times New Roman" panose="02020603050405020304" pitchFamily="18" charset="0"/>
                <a:cs typeface="Times New Roman" panose="02020603050405020304" pitchFamily="18" charset="0"/>
              </a:rPr>
              <a:t>kiran</a:t>
            </a:r>
            <a:endParaRPr lang="en-US" sz="1600" dirty="0">
              <a:latin typeface="Times New Roman" panose="02020603050405020304" pitchFamily="18" charset="0"/>
              <a:cs typeface="Times New Roman" panose="02020603050405020304" pitchFamily="18" charset="0"/>
            </a:endParaRPr>
          </a:p>
          <a:p>
            <a:pPr>
              <a:lnSpc>
                <a:spcPct val="150000"/>
              </a:lnSpc>
            </a:pPr>
            <a:r>
              <a:rPr lang="en-US" sz="1600" b="1" dirty="0">
                <a:latin typeface="Times New Roman" panose="02020603050405020304" pitchFamily="18" charset="0"/>
                <a:cs typeface="Times New Roman" panose="02020603050405020304" pitchFamily="18" charset="0"/>
              </a:rPr>
              <a:t>BATCH No:</a:t>
            </a:r>
            <a:r>
              <a:rPr lang="en-US" sz="1600" dirty="0">
                <a:latin typeface="Times New Roman" panose="02020603050405020304" pitchFamily="18" charset="0"/>
                <a:cs typeface="Times New Roman" panose="02020603050405020304" pitchFamily="18" charset="0"/>
              </a:rPr>
              <a:t> 450</a:t>
            </a:r>
            <a:br>
              <a:rPr lang="en-US" sz="1600" dirty="0">
                <a:latin typeface="Times New Roman" panose="02020603050405020304" pitchFamily="18" charset="0"/>
                <a:cs typeface="Times New Roman" panose="02020603050405020304" pitchFamily="18" charset="0"/>
              </a:rPr>
            </a:br>
            <a:r>
              <a:rPr lang="en-US" sz="1600" b="1" dirty="0">
                <a:latin typeface="Times New Roman" panose="02020603050405020304" pitchFamily="18" charset="0"/>
                <a:cs typeface="Times New Roman" panose="02020603050405020304" pitchFamily="18" charset="0"/>
              </a:rPr>
              <a:t>Subject:</a:t>
            </a:r>
            <a:r>
              <a:rPr lang="en-US" sz="1600" dirty="0">
                <a:latin typeface="Times New Roman" panose="02020603050405020304" pitchFamily="18" charset="0"/>
                <a:cs typeface="Times New Roman" panose="02020603050405020304" pitchFamily="18" charset="0"/>
              </a:rPr>
              <a:t> EDA</a:t>
            </a:r>
            <a:endParaRPr lang="en-IN" sz="1600" dirty="0">
              <a:latin typeface="Times New Roman" panose="02020603050405020304" pitchFamily="18" charset="0"/>
              <a:cs typeface="Times New Roman" panose="02020603050405020304" pitchFamily="18" charset="0"/>
            </a:endParaRPr>
          </a:p>
          <a:p>
            <a:pPr>
              <a:lnSpc>
                <a:spcPct val="150000"/>
              </a:lnSpc>
            </a:pPr>
            <a:endParaRPr lang="en-US" sz="1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A806F1D4-D02B-9324-62FE-2B6061C02CF9}"/>
                  </a:ext>
                </a:extLst>
              </p14:cNvPr>
              <p14:cNvContentPartPr/>
              <p14:nvPr/>
            </p14:nvContentPartPr>
            <p14:xfrm>
              <a:off x="4632662" y="3197292"/>
              <a:ext cx="1207080" cy="308880"/>
            </p14:xfrm>
          </p:contentPart>
        </mc:Choice>
        <mc:Fallback xmlns="">
          <p:pic>
            <p:nvPicPr>
              <p:cNvPr id="4" name="Ink 3">
                <a:extLst>
                  <a:ext uri="{FF2B5EF4-FFF2-40B4-BE49-F238E27FC236}">
                    <a16:creationId xmlns:a16="http://schemas.microsoft.com/office/drawing/2014/main" id="{A806F1D4-D02B-9324-62FE-2B6061C02CF9}"/>
                  </a:ext>
                </a:extLst>
              </p:cNvPr>
              <p:cNvPicPr/>
              <p:nvPr/>
            </p:nvPicPr>
            <p:blipFill>
              <a:blip r:embed="rId5"/>
              <a:stretch>
                <a:fillRect/>
              </a:stretch>
            </p:blipFill>
            <p:spPr>
              <a:xfrm>
                <a:off x="4570022" y="3134292"/>
                <a:ext cx="1332720" cy="434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C784DEA4-4124-EABD-3695-B6662F420A91}"/>
                  </a:ext>
                </a:extLst>
              </p14:cNvPr>
              <p14:cNvContentPartPr/>
              <p14:nvPr/>
            </p14:nvContentPartPr>
            <p14:xfrm>
              <a:off x="3087704" y="2819472"/>
              <a:ext cx="5057640" cy="1064520"/>
            </p14:xfrm>
          </p:contentPart>
        </mc:Choice>
        <mc:Fallback xmlns="">
          <p:pic>
            <p:nvPicPr>
              <p:cNvPr id="5" name="Ink 4">
                <a:extLst>
                  <a:ext uri="{FF2B5EF4-FFF2-40B4-BE49-F238E27FC236}">
                    <a16:creationId xmlns:a16="http://schemas.microsoft.com/office/drawing/2014/main" id="{C784DEA4-4124-EABD-3695-B6662F420A91}"/>
                  </a:ext>
                </a:extLst>
              </p:cNvPr>
              <p:cNvPicPr/>
              <p:nvPr/>
            </p:nvPicPr>
            <p:blipFill>
              <a:blip r:embed="rId7"/>
              <a:stretch>
                <a:fillRect/>
              </a:stretch>
            </p:blipFill>
            <p:spPr>
              <a:xfrm>
                <a:off x="3024704" y="2756472"/>
                <a:ext cx="5183280" cy="1190160"/>
              </a:xfrm>
              <a:prstGeom prst="rect">
                <a:avLst/>
              </a:prstGeom>
            </p:spPr>
          </p:pic>
        </mc:Fallback>
      </mc:AlternateContent>
      <p:sp>
        <p:nvSpPr>
          <p:cNvPr id="3" name="TextBox 2">
            <a:extLst>
              <a:ext uri="{FF2B5EF4-FFF2-40B4-BE49-F238E27FC236}">
                <a16:creationId xmlns:a16="http://schemas.microsoft.com/office/drawing/2014/main" id="{C7B6EEB9-E88F-DA76-5192-6D79196E3067}"/>
              </a:ext>
            </a:extLst>
          </p:cNvPr>
          <p:cNvSpPr txBox="1"/>
          <p:nvPr/>
        </p:nvSpPr>
        <p:spPr>
          <a:xfrm>
            <a:off x="4269995" y="3090122"/>
            <a:ext cx="3652009" cy="523220"/>
          </a:xfrm>
          <a:prstGeom prst="rect">
            <a:avLst/>
          </a:prstGeom>
          <a:noFill/>
        </p:spPr>
        <p:txBody>
          <a:bodyPr wrap="square" rtlCol="0">
            <a:spAutoFit/>
          </a:bodyPr>
          <a:lstStyle/>
          <a:p>
            <a:pPr algn="ctr"/>
            <a:r>
              <a:rPr lang="en-US" sz="28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PROJECT 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108A3D-51E7-7EF2-A4E1-9206E87CBB0C}"/>
              </a:ext>
            </a:extLst>
          </p:cNvPr>
          <p:cNvSpPr txBox="1"/>
          <p:nvPr/>
        </p:nvSpPr>
        <p:spPr>
          <a:xfrm>
            <a:off x="196645" y="167149"/>
            <a:ext cx="11444749" cy="5816977"/>
          </a:xfrm>
          <a:prstGeom prst="rect">
            <a:avLst/>
          </a:prstGeom>
          <a:noFill/>
        </p:spPr>
        <p:txBody>
          <a:bodyPr wrap="square" rtlCol="0">
            <a:spAutoFit/>
          </a:bodyPr>
          <a:lstStyle/>
          <a:p>
            <a:r>
              <a:rPr lang="en-IN" sz="4000" dirty="0">
                <a:solidFill>
                  <a:srgbClr val="FF0000"/>
                </a:solidFill>
                <a:latin typeface="Times New Roman" panose="02020603050405020304" pitchFamily="18" charset="0"/>
                <a:cs typeface="Times New Roman" panose="02020603050405020304" pitchFamily="18" charset="0"/>
              </a:rPr>
              <a:t>About Me</a:t>
            </a:r>
          </a:p>
          <a:p>
            <a:endParaRPr lang="en-IN" sz="4000" dirty="0">
              <a:solidFill>
                <a:srgbClr val="FF0000"/>
              </a:solidFill>
              <a:latin typeface="Times New Roman" panose="02020603050405020304" pitchFamily="18" charset="0"/>
              <a:cs typeface="Times New Roman" panose="02020603050405020304" pitchFamily="18" charset="0"/>
            </a:endParaRPr>
          </a:p>
          <a:p>
            <a:endParaRPr lang="en-IN" dirty="0"/>
          </a:p>
          <a:p>
            <a:r>
              <a:rPr lang="en-US" sz="2400" dirty="0">
                <a:latin typeface="Times New Roman" panose="02020603050405020304" pitchFamily="18" charset="0"/>
                <a:cs typeface="Times New Roman" panose="02020603050405020304" pitchFamily="18" charset="0"/>
              </a:rPr>
              <a:t>I am </a:t>
            </a:r>
            <a:r>
              <a:rPr lang="en-US" sz="2400" b="1" dirty="0">
                <a:latin typeface="Times New Roman" panose="02020603050405020304" pitchFamily="18" charset="0"/>
                <a:cs typeface="Times New Roman" panose="02020603050405020304" pitchFamily="18" charset="0"/>
              </a:rPr>
              <a:t>MEKALA CHANDRA KIRAN</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I Recently Completed my graduation in the stream of Computer Science and Engineering from </a:t>
            </a:r>
            <a:r>
              <a:rPr lang="en-US" sz="2400" dirty="0" err="1">
                <a:latin typeface="Times New Roman" panose="02020603050405020304" pitchFamily="18" charset="0"/>
                <a:cs typeface="Times New Roman" panose="02020603050405020304" pitchFamily="18" charset="0"/>
              </a:rPr>
              <a:t>Teegala</a:t>
            </a:r>
            <a:r>
              <a:rPr lang="en-US" sz="2400" dirty="0">
                <a:latin typeface="Times New Roman" panose="02020603050405020304" pitchFamily="18" charset="0"/>
                <a:cs typeface="Times New Roman" panose="02020603050405020304" pitchFamily="18" charset="0"/>
              </a:rPr>
              <a:t> Krishna Reddy Engineering College, Hyderabad</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LinkedIn </a:t>
            </a:r>
            <a:r>
              <a:rPr lang="en-US" sz="2400" u="sng" dirty="0">
                <a:solidFill>
                  <a:srgbClr val="00B0F0"/>
                </a:solidFill>
                <a:latin typeface="Times New Roman" panose="02020603050405020304" pitchFamily="18" charset="0"/>
                <a:cs typeface="Times New Roman" panose="02020603050405020304" pitchFamily="18" charset="0"/>
              </a:rPr>
              <a:t>: https://www.linkedin.com/in/mekala-chandra-kiran-6a2136389/ </a:t>
            </a:r>
          </a:p>
          <a:p>
            <a:endParaRPr lang="en-US" sz="2400" u="sng" dirty="0">
              <a:solidFill>
                <a:srgbClr val="00B0F0"/>
              </a:solidFill>
              <a:latin typeface="Times New Roman" panose="02020603050405020304" pitchFamily="18" charset="0"/>
              <a:cs typeface="Times New Roman" panose="02020603050405020304" pitchFamily="18" charset="0"/>
            </a:endParaRPr>
          </a:p>
          <a:p>
            <a:r>
              <a:rPr lang="en-US" sz="2400" dirty="0">
                <a:solidFill>
                  <a:schemeClr val="tx1"/>
                </a:solidFill>
                <a:latin typeface="Times New Roman" panose="02020603050405020304" pitchFamily="18" charset="0"/>
                <a:cs typeface="Times New Roman" panose="02020603050405020304" pitchFamily="18" charset="0"/>
              </a:rPr>
              <a:t> Git hub : </a:t>
            </a:r>
            <a:r>
              <a:rPr lang="en-IN" sz="2400" u="sng" dirty="0">
                <a:solidFill>
                  <a:srgbClr val="00B0F0"/>
                </a:solidFill>
                <a:latin typeface="Times New Roman" panose="02020603050405020304" pitchFamily="18" charset="0"/>
                <a:cs typeface="Times New Roman" panose="02020603050405020304" pitchFamily="18" charset="0"/>
              </a:rPr>
              <a:t>https://github.com/mekalachandrakiran123</a:t>
            </a:r>
          </a:p>
          <a:p>
            <a:endParaRPr lang="en-IN" sz="2400" dirty="0">
              <a:solidFill>
                <a:schemeClr val="tx1"/>
              </a:solidFill>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0277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684880" y="316638"/>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sz="4000" dirty="0">
                <a:solidFill>
                  <a:srgbClr val="FF0000"/>
                </a:solidFill>
                <a:latin typeface="Times New Roman" panose="02020603050405020304" pitchFamily="18" charset="0"/>
                <a:cs typeface="Times New Roman" panose="02020603050405020304" pitchFamily="18" charset="0"/>
              </a:rPr>
              <a:t>Agenda</a:t>
            </a:r>
            <a:endParaRPr sz="4000" dirty="0">
              <a:solidFill>
                <a:srgbClr val="FF0000"/>
              </a:solidFill>
              <a:latin typeface="Times New Roman" panose="02020603050405020304" pitchFamily="18" charset="0"/>
              <a:cs typeface="Times New Roman" panose="02020603050405020304" pitchFamily="18" charset="0"/>
            </a:endParaRPr>
          </a:p>
        </p:txBody>
      </p:sp>
      <p:sp>
        <p:nvSpPr>
          <p:cNvPr id="111" name="Google Shape;111;p4"/>
          <p:cNvSpPr txBox="1">
            <a:spLocks noGrp="1"/>
          </p:cNvSpPr>
          <p:nvPr>
            <p:ph type="body" idx="1"/>
          </p:nvPr>
        </p:nvSpPr>
        <p:spPr>
          <a:xfrm>
            <a:off x="560439" y="1642201"/>
            <a:ext cx="10640041" cy="4534346"/>
          </a:xfrm>
          <a:prstGeom prst="rect">
            <a:avLst/>
          </a:prstGeom>
          <a:noFill/>
          <a:ln>
            <a:noFill/>
          </a:ln>
        </p:spPr>
        <p:txBody>
          <a:bodyPr spcFirstLastPara="1" wrap="square" lIns="91425" tIns="45700" rIns="91425" bIns="45700" anchor="t" anchorCtr="0">
            <a:normAutofit lnSpcReduction="10000"/>
          </a:bodyPr>
          <a:lstStyle/>
          <a:p>
            <a:pPr lvl="0" indent="-431800">
              <a:buSzPts val="2400"/>
            </a:pPr>
            <a:r>
              <a:rPr lang="en-US" dirty="0">
                <a:latin typeface="Times New Roman" panose="02020603050405020304" pitchFamily="18" charset="0"/>
                <a:cs typeface="Times New Roman" panose="02020603050405020304" pitchFamily="18" charset="0"/>
              </a:rPr>
              <a:t>Problem Statement </a:t>
            </a:r>
          </a:p>
          <a:p>
            <a:pPr lvl="0" indent="-431800">
              <a:buSzPts val="2400"/>
            </a:pPr>
            <a:r>
              <a:rPr lang="en-US" dirty="0">
                <a:latin typeface="Times New Roman" panose="02020603050405020304" pitchFamily="18" charset="0"/>
                <a:cs typeface="Times New Roman" panose="02020603050405020304" pitchFamily="18" charset="0"/>
              </a:rPr>
              <a:t>Objective</a:t>
            </a:r>
          </a:p>
          <a:p>
            <a:pPr lvl="0" indent="-431800">
              <a:buSzPts val="2400"/>
            </a:pPr>
            <a:r>
              <a:rPr lang="en-US" dirty="0">
                <a:latin typeface="Times New Roman" panose="02020603050405020304" pitchFamily="18" charset="0"/>
                <a:cs typeface="Times New Roman" panose="02020603050405020304" pitchFamily="18" charset="0"/>
              </a:rPr>
              <a:t>Dataset Overview</a:t>
            </a:r>
          </a:p>
          <a:p>
            <a:pPr lvl="0" indent="-431800">
              <a:buSzPts val="2400"/>
            </a:pPr>
            <a:r>
              <a:rPr lang="en-US" spc="-7" dirty="0">
                <a:solidFill>
                  <a:schemeClr val="tx1"/>
                </a:solidFill>
                <a:latin typeface="Times New Roman" panose="02020603050405020304" pitchFamily="18" charset="0"/>
                <a:cs typeface="Times New Roman" panose="02020603050405020304" pitchFamily="18" charset="0"/>
              </a:rPr>
              <a:t>Univariate Analysis</a:t>
            </a:r>
          </a:p>
          <a:p>
            <a:pPr lvl="0" indent="-431800">
              <a:buSzPts val="2400"/>
            </a:pPr>
            <a:r>
              <a:rPr lang="en-US" spc="-7" dirty="0">
                <a:solidFill>
                  <a:schemeClr val="tx1"/>
                </a:solidFill>
                <a:latin typeface="Times New Roman" panose="02020603050405020304" pitchFamily="18" charset="0"/>
                <a:cs typeface="Times New Roman" panose="02020603050405020304" pitchFamily="18" charset="0"/>
              </a:rPr>
              <a:t>Bi-variate Analysis</a:t>
            </a:r>
          </a:p>
          <a:p>
            <a:pPr lvl="0" indent="-431800">
              <a:buSzPts val="2400"/>
            </a:pPr>
            <a:r>
              <a:rPr lang="en-US" spc="-7" dirty="0">
                <a:solidFill>
                  <a:schemeClr val="tx1"/>
                </a:solidFill>
                <a:latin typeface="Times New Roman" panose="02020603050405020304" pitchFamily="18" charset="0"/>
                <a:cs typeface="Times New Roman" panose="02020603050405020304" pitchFamily="18" charset="0"/>
              </a:rPr>
              <a:t>Multi variate Analysis</a:t>
            </a:r>
          </a:p>
          <a:p>
            <a:pPr lvl="0" indent="-431800">
              <a:buSzPts val="2400"/>
            </a:pPr>
            <a:r>
              <a:rPr lang="en-US" spc="-7" dirty="0">
                <a:solidFill>
                  <a:schemeClr val="tx1"/>
                </a:solidFill>
                <a:latin typeface="Times New Roman" panose="02020603050405020304" pitchFamily="18" charset="0"/>
                <a:cs typeface="Times New Roman" panose="02020603050405020304" pitchFamily="18" charset="0"/>
              </a:rPr>
              <a:t>Hypothesis Testing</a:t>
            </a:r>
          </a:p>
          <a:p>
            <a:pPr lvl="0" indent="-431800">
              <a:buSzPts val="2400"/>
            </a:pPr>
            <a:r>
              <a:rPr lang="en-US" spc="-7" dirty="0">
                <a:solidFill>
                  <a:schemeClr val="tx1"/>
                </a:solidFill>
                <a:latin typeface="Times New Roman" panose="02020603050405020304" pitchFamily="18" charset="0"/>
                <a:cs typeface="Times New Roman" panose="02020603050405020304" pitchFamily="18" charset="0"/>
              </a:rPr>
              <a:t>Applications</a:t>
            </a:r>
            <a:endParaRPr lang="en-US" dirty="0">
              <a:latin typeface="Times New Roman" panose="02020603050405020304" pitchFamily="18" charset="0"/>
              <a:cs typeface="Times New Roman" panose="02020603050405020304" pitchFamily="18" charset="0"/>
            </a:endParaRPr>
          </a:p>
          <a:p>
            <a:pPr indent="-431800">
              <a:buSzPts val="2400"/>
            </a:pPr>
            <a:r>
              <a:rPr lang="en-US" dirty="0">
                <a:latin typeface="Times New Roman" panose="02020603050405020304" pitchFamily="18" charset="0"/>
                <a:cs typeface="Times New Roman" panose="02020603050405020304" pitchFamily="18" charset="0"/>
              </a:rPr>
              <a:t>Conclusion</a:t>
            </a:r>
            <a:endParaRPr lang="en-US" dirty="0">
              <a:solidFill>
                <a:schemeClr val="tx1"/>
              </a:solidFill>
              <a:latin typeface="Times New Roman" panose="02020603050405020304" pitchFamily="18" charset="0"/>
              <a:cs typeface="Times New Roman" panose="02020603050405020304" pitchFamily="18" charset="0"/>
            </a:endParaRPr>
          </a:p>
          <a:p>
            <a:pPr marL="25400" lvl="0" indent="0">
              <a:buSzPts val="2400"/>
              <a:buNone/>
            </a:pP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806E2D-58F6-4DD1-128D-B59058E9A1D4}"/>
              </a:ext>
            </a:extLst>
          </p:cNvPr>
          <p:cNvSpPr txBox="1"/>
          <p:nvPr/>
        </p:nvSpPr>
        <p:spPr>
          <a:xfrm>
            <a:off x="226142" y="521110"/>
            <a:ext cx="11425084" cy="5186035"/>
          </a:xfrm>
          <a:prstGeom prst="rect">
            <a:avLst/>
          </a:prstGeom>
          <a:noFill/>
        </p:spPr>
        <p:txBody>
          <a:bodyPr wrap="square" rtlCol="0">
            <a:spAutoFit/>
          </a:bodyPr>
          <a:lstStyle/>
          <a:p>
            <a:pPr algn="just">
              <a:lnSpc>
                <a:spcPct val="150000"/>
              </a:lnSpc>
            </a:pPr>
            <a:r>
              <a:rPr lang="en-IN" sz="4000" dirty="0">
                <a:solidFill>
                  <a:srgbClr val="FF0000"/>
                </a:solidFill>
                <a:latin typeface="Times New Roman" panose="02020603050405020304" pitchFamily="18" charset="0"/>
                <a:cs typeface="Times New Roman" panose="02020603050405020304" pitchFamily="18" charset="0"/>
              </a:rPr>
              <a:t>Problem Statement</a:t>
            </a:r>
          </a:p>
          <a:p>
            <a:pPr algn="just">
              <a:lnSpc>
                <a:spcPct val="150000"/>
              </a:lnSpc>
            </a:pPr>
            <a:endParaRPr lang="en-IN" dirty="0"/>
          </a:p>
          <a:p>
            <a:pPr algn="just">
              <a:lnSpc>
                <a:spcPct val="150000"/>
              </a:lnSpc>
            </a:pPr>
            <a:r>
              <a:rPr lang="en-US" sz="2000" dirty="0">
                <a:latin typeface="Times New Roman" panose="02020603050405020304" pitchFamily="18" charset="0"/>
                <a:cs typeface="Times New Roman" panose="02020603050405020304" pitchFamily="18" charset="0"/>
              </a:rPr>
              <a:t>The used car market is highly dynamic and varies significantly across brands, models, and vehicle attributes such as fuel type, transmission, age, and kilometers  driven. Customers looking to buy a second-hand car often struggle to identify fair prices and compare options across brands, while vendors face difficulties in pricing their vehicles competitively due to a lack of market transparency. As a digital used-car marketplace, hosts large volumes of listings, but the data is not readily available in an analytical format for deriving actionable insights.</a:t>
            </a:r>
          </a:p>
          <a:p>
            <a:endParaRPr lang="en-IN" dirty="0">
              <a:latin typeface="Times New Roman" panose="02020603050405020304" pitchFamily="18" charset="0"/>
              <a:cs typeface="Times New Roman" panose="02020603050405020304" pitchFamily="18" charset="0"/>
            </a:endParaRP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3565468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76E5E-2B0F-5E8B-77A9-98371C1475D8}"/>
              </a:ext>
            </a:extLst>
          </p:cNvPr>
          <p:cNvSpPr txBox="1"/>
          <p:nvPr/>
        </p:nvSpPr>
        <p:spPr>
          <a:xfrm>
            <a:off x="353962" y="275304"/>
            <a:ext cx="11051458" cy="5262979"/>
          </a:xfrm>
          <a:prstGeom prst="rect">
            <a:avLst/>
          </a:prstGeom>
          <a:noFill/>
        </p:spPr>
        <p:txBody>
          <a:bodyPr wrap="square" rtlCol="0">
            <a:spAutoFit/>
          </a:bodyPr>
          <a:lstStyle/>
          <a:p>
            <a:r>
              <a:rPr lang="en-IN" sz="4000" dirty="0">
                <a:solidFill>
                  <a:srgbClr val="FF0000"/>
                </a:solidFill>
                <a:latin typeface="Times New Roman" panose="02020603050405020304" pitchFamily="18" charset="0"/>
                <a:cs typeface="Times New Roman" panose="02020603050405020304" pitchFamily="18" charset="0"/>
              </a:rPr>
              <a:t>Objective</a:t>
            </a:r>
          </a:p>
          <a:p>
            <a:endParaRPr lang="en-IN" dirty="0"/>
          </a:p>
          <a:p>
            <a:endParaRPr lang="en-IN" dirty="0"/>
          </a:p>
          <a:p>
            <a:pPr algn="just">
              <a:lnSpc>
                <a:spcPct val="150000"/>
              </a:lnSpc>
            </a:pPr>
            <a:r>
              <a:rPr lang="en-US" sz="2000" dirty="0">
                <a:latin typeface="Times New Roman" panose="02020603050405020304" pitchFamily="18" charset="0"/>
                <a:cs typeface="Times New Roman" panose="02020603050405020304" pitchFamily="18" charset="0"/>
              </a:rPr>
              <a:t>The main objective of this project is to collect used car data from the  website and analyze it to help people make better decisions when buying or selling second-hand cars.</a:t>
            </a:r>
          </a:p>
          <a:p>
            <a:pPr algn="just">
              <a:lnSpc>
                <a:spcPct val="150000"/>
              </a:lnSpc>
            </a:pPr>
            <a:r>
              <a:rPr lang="en-US" sz="2000" dirty="0">
                <a:latin typeface="Times New Roman" panose="02020603050405020304" pitchFamily="18" charset="0"/>
                <a:cs typeface="Times New Roman" panose="02020603050405020304" pitchFamily="18" charset="0"/>
              </a:rPr>
              <a:t>Through this project, we aim to:</a:t>
            </a:r>
          </a:p>
          <a:p>
            <a:pPr algn="just">
              <a:lnSpc>
                <a:spcPct val="150000"/>
              </a:lnSpc>
            </a:pPr>
            <a:r>
              <a:rPr lang="en-US" sz="2000" dirty="0">
                <a:latin typeface="Times New Roman" panose="02020603050405020304" pitchFamily="18" charset="0"/>
                <a:cs typeface="Times New Roman" panose="02020603050405020304" pitchFamily="18" charset="0"/>
              </a:rPr>
              <a:t>Collect used car details such as price, brand, model, year, fuel type, transmission, and kilometers driven.</a:t>
            </a:r>
          </a:p>
          <a:p>
            <a:pPr algn="just">
              <a:lnSpc>
                <a:spcPct val="150000"/>
              </a:lnSpc>
            </a:pPr>
            <a:r>
              <a:rPr lang="en-US" sz="2000" dirty="0">
                <a:latin typeface="Times New Roman" panose="02020603050405020304" pitchFamily="18" charset="0"/>
                <a:cs typeface="Times New Roman" panose="02020603050405020304" pitchFamily="18" charset="0"/>
              </a:rPr>
              <a:t>Understand how used car prices vary from brand to brand.</a:t>
            </a:r>
          </a:p>
          <a:p>
            <a:pPr algn="just">
              <a:lnSpc>
                <a:spcPct val="150000"/>
              </a:lnSpc>
            </a:pPr>
            <a:r>
              <a:rPr lang="en-US" sz="2000" dirty="0">
                <a:latin typeface="Times New Roman" panose="02020603050405020304" pitchFamily="18" charset="0"/>
                <a:cs typeface="Times New Roman" panose="02020603050405020304" pitchFamily="18" charset="0"/>
              </a:rPr>
              <a:t>Identify which car brands and models has highest demand in the used market.</a:t>
            </a:r>
          </a:p>
          <a:p>
            <a:pPr algn="just">
              <a:lnSpc>
                <a:spcPct val="150000"/>
              </a:lnSpc>
            </a:pPr>
            <a:r>
              <a:rPr lang="en-US" sz="2000" dirty="0">
                <a:latin typeface="Times New Roman" panose="02020603050405020304" pitchFamily="18" charset="0"/>
                <a:cs typeface="Times New Roman" panose="02020603050405020304" pitchFamily="18" charset="0"/>
              </a:rPr>
              <a:t>Analyze how factors like kilometers driven, fuel type, transmission, and usage affect the car price.</a:t>
            </a:r>
          </a:p>
          <a:p>
            <a:pPr algn="just">
              <a:lnSpc>
                <a:spcPct val="150000"/>
              </a:lnSpc>
            </a:pPr>
            <a:r>
              <a:rPr lang="en-US" sz="2000" dirty="0">
                <a:latin typeface="Times New Roman" panose="02020603050405020304" pitchFamily="18" charset="0"/>
                <a:cs typeface="Times New Roman" panose="02020603050405020304" pitchFamily="18" charset="0"/>
              </a:rPr>
              <a:t>Provide clear insights that help buyers find affordable cars and sellers price their cars correctly</a:t>
            </a:r>
            <a:r>
              <a:rPr lang="en-US" dirty="0"/>
              <a:t>.</a:t>
            </a:r>
          </a:p>
          <a:p>
            <a:endParaRPr lang="en-IN" dirty="0"/>
          </a:p>
          <a:p>
            <a:endParaRPr lang="en-IN" dirty="0"/>
          </a:p>
        </p:txBody>
      </p:sp>
    </p:spTree>
    <p:extLst>
      <p:ext uri="{BB962C8B-B14F-4D97-AF65-F5344CB8AC3E}">
        <p14:creationId xmlns:p14="http://schemas.microsoft.com/office/powerpoint/2010/main" val="2837502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45A36B-C275-31C7-6258-37AC7FE06233}"/>
              </a:ext>
            </a:extLst>
          </p:cNvPr>
          <p:cNvSpPr txBox="1"/>
          <p:nvPr/>
        </p:nvSpPr>
        <p:spPr>
          <a:xfrm>
            <a:off x="156538" y="147484"/>
            <a:ext cx="11583178" cy="6771084"/>
          </a:xfrm>
          <a:prstGeom prst="rect">
            <a:avLst/>
          </a:prstGeom>
          <a:noFill/>
        </p:spPr>
        <p:txBody>
          <a:bodyPr wrap="square" rtlCol="0">
            <a:spAutoFit/>
          </a:bodyPr>
          <a:lstStyle/>
          <a:p>
            <a:pPr algn="just"/>
            <a:r>
              <a:rPr lang="en-IN" sz="4000" dirty="0">
                <a:solidFill>
                  <a:srgbClr val="FF0000"/>
                </a:solidFill>
                <a:latin typeface="Times New Roman" panose="02020603050405020304" pitchFamily="18" charset="0"/>
                <a:cs typeface="Times New Roman" panose="02020603050405020304" pitchFamily="18" charset="0"/>
              </a:rPr>
              <a:t>Dataset Overview</a:t>
            </a:r>
          </a:p>
          <a:p>
            <a:pPr algn="just"/>
            <a:r>
              <a:rPr lang="en-IN" sz="4000" dirty="0">
                <a:solidFill>
                  <a:srgbClr val="FF0000"/>
                </a:solidFill>
                <a:latin typeface="Times New Roman" panose="02020603050405020304" pitchFamily="18" charset="0"/>
                <a:cs typeface="Times New Roman" panose="02020603050405020304" pitchFamily="18" charset="0"/>
              </a:rPr>
              <a:t>                                     </a:t>
            </a:r>
            <a:r>
              <a:rPr lang="en-IN" sz="2000" b="1" dirty="0">
                <a:solidFill>
                  <a:srgbClr val="FF0000"/>
                </a:solidFill>
                <a:latin typeface="Times New Roman" panose="02020603050405020304" pitchFamily="18" charset="0"/>
                <a:cs typeface="Times New Roman" panose="02020603050405020304" pitchFamily="18" charset="0"/>
              </a:rPr>
              <a:t>Observation:</a:t>
            </a:r>
          </a:p>
          <a:p>
            <a:pPr marL="571500" indent="-571500" algn="just">
              <a:lnSpc>
                <a:spcPct val="150000"/>
              </a:lnSpc>
              <a:buFont typeface="Wingdings" panose="05000000000000000000" pitchFamily="2" charset="2"/>
              <a:buChar char="Ø"/>
            </a:pPr>
            <a:r>
              <a:rPr lang="en-IN" sz="4000" dirty="0">
                <a:solidFill>
                  <a:srgbClr val="FF0000"/>
                </a:solidFill>
                <a:latin typeface="Times New Roman" panose="02020603050405020304" pitchFamily="18" charset="0"/>
                <a:cs typeface="Times New Roman" panose="02020603050405020304" pitchFamily="18" charset="0"/>
              </a:rPr>
              <a:t>                                 </a:t>
            </a:r>
            <a:r>
              <a:rPr lang="en-IN" sz="2000" dirty="0">
                <a:solidFill>
                  <a:schemeClr val="tx1"/>
                </a:solidFill>
                <a:latin typeface="Times New Roman" panose="02020603050405020304" pitchFamily="18" charset="0"/>
                <a:cs typeface="Times New Roman" panose="02020603050405020304" pitchFamily="18" charset="0"/>
              </a:rPr>
              <a:t>1.The Data Frame contains 400 rows, indexed from 0 to 399</a:t>
            </a:r>
          </a:p>
          <a:p>
            <a:pPr marL="571500" indent="-571500" algn="just">
              <a:lnSpc>
                <a:spcPct val="150000"/>
              </a:lnSpc>
              <a:buFont typeface="Wingdings" panose="05000000000000000000" pitchFamily="2" charset="2"/>
              <a:buChar char="v"/>
            </a:pPr>
            <a:r>
              <a:rPr lang="en-IN" sz="2000" dirty="0">
                <a:solidFill>
                  <a:schemeClr val="tx1"/>
                </a:solidFill>
                <a:latin typeface="Times New Roman" panose="02020603050405020304" pitchFamily="18" charset="0"/>
                <a:cs typeface="Times New Roman" panose="02020603050405020304" pitchFamily="18" charset="0"/>
              </a:rPr>
              <a:t>                                                                  2. There are 8 columns: Manufacture year, brand, model,     </a:t>
            </a:r>
          </a:p>
          <a:p>
            <a:pPr algn="just">
              <a:lnSpc>
                <a:spcPct val="150000"/>
              </a:lnSpc>
            </a:pPr>
            <a:r>
              <a:rPr lang="en-IN" sz="2000" dirty="0">
                <a:solidFill>
                  <a:schemeClr val="tx1"/>
                </a:solidFill>
                <a:latin typeface="Times New Roman" panose="02020603050405020304" pitchFamily="18" charset="0"/>
                <a:cs typeface="Times New Roman" panose="02020603050405020304" pitchFamily="18" charset="0"/>
              </a:rPr>
              <a:t>                                                                               km driven, Transmission type, fuel, price etc…</a:t>
            </a:r>
          </a:p>
          <a:p>
            <a:pPr algn="just">
              <a:lnSpc>
                <a:spcPct val="150000"/>
              </a:lnSpc>
            </a:pPr>
            <a:r>
              <a:rPr lang="en-IN" sz="2000" dirty="0">
                <a:solidFill>
                  <a:schemeClr val="tx1"/>
                </a:solidFill>
                <a:latin typeface="Times New Roman" panose="02020603050405020304" pitchFamily="18" charset="0"/>
                <a:cs typeface="Times New Roman" panose="02020603050405020304" pitchFamily="18" charset="0"/>
              </a:rPr>
              <a:t>                                                                           3.No Missing data, All 400 entries in each column are</a:t>
            </a:r>
          </a:p>
          <a:p>
            <a:pPr algn="just">
              <a:lnSpc>
                <a:spcPct val="150000"/>
              </a:lnSpc>
            </a:pPr>
            <a:r>
              <a:rPr lang="en-IN" sz="2000" dirty="0">
                <a:solidFill>
                  <a:schemeClr val="tx1"/>
                </a:solidFill>
                <a:latin typeface="Times New Roman" panose="02020603050405020304" pitchFamily="18" charset="0"/>
                <a:cs typeface="Times New Roman" panose="02020603050405020304" pitchFamily="18" charset="0"/>
              </a:rPr>
              <a:t>                                                                               non-null, indicating no missing values  in the dataset.</a:t>
            </a:r>
          </a:p>
          <a:p>
            <a:endParaRPr lang="en-IN" sz="2000" dirty="0">
              <a:latin typeface="Times New Roman" panose="02020603050405020304" pitchFamily="18" charset="0"/>
              <a:cs typeface="Times New Roman" panose="02020603050405020304" pitchFamily="18" charset="0"/>
            </a:endParaRPr>
          </a:p>
          <a:p>
            <a:endParaRPr lang="en-IN" dirty="0"/>
          </a:p>
          <a:p>
            <a:r>
              <a:rPr lang="en-US" sz="1800" b="1" dirty="0">
                <a:solidFill>
                  <a:srgbClr val="FF0000"/>
                </a:solidFill>
                <a:latin typeface="Times New Roman" panose="02020603050405020304" pitchFamily="18" charset="0"/>
                <a:cs typeface="Times New Roman" panose="02020603050405020304" pitchFamily="18" charset="0"/>
              </a:rPr>
              <a:t>Data Extraction:</a:t>
            </a:r>
          </a:p>
          <a:p>
            <a:endParaRPr lang="en-US" sz="1800" b="1" dirty="0">
              <a:solidFill>
                <a:srgbClr val="FF0000"/>
              </a:solidFill>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1.Identified relevant data fields such as car brand, model, price, fuel type, kilometers driven, and manufacture year from the website.</a:t>
            </a:r>
          </a:p>
          <a:p>
            <a:r>
              <a:rPr lang="en-US" sz="1800" dirty="0">
                <a:latin typeface="Times New Roman" panose="02020603050405020304" pitchFamily="18" charset="0"/>
                <a:cs typeface="Times New Roman" panose="02020603050405020304" pitchFamily="18" charset="0"/>
              </a:rPr>
              <a:t>2.Used Python libraries like </a:t>
            </a:r>
            <a:r>
              <a:rPr lang="en-US" sz="1800" b="1" dirty="0">
                <a:latin typeface="Times New Roman" panose="02020603050405020304" pitchFamily="18" charset="0"/>
                <a:cs typeface="Times New Roman" panose="02020603050405020304" pitchFamily="18" charset="0"/>
              </a:rPr>
              <a:t>Requests</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Selenium</a:t>
            </a:r>
            <a:r>
              <a:rPr lang="en-US" sz="1800" dirty="0">
                <a:latin typeface="Times New Roman" panose="02020603050405020304" pitchFamily="18" charset="0"/>
                <a:cs typeface="Times New Roman" panose="02020603050405020304" pitchFamily="18" charset="0"/>
              </a:rPr>
              <a:t> to scrape listing data from web pages.</a:t>
            </a:r>
          </a:p>
          <a:p>
            <a:r>
              <a:rPr lang="en-US" sz="1800" dirty="0">
                <a:latin typeface="Times New Roman" panose="02020603050405020304" pitchFamily="18" charset="0"/>
                <a:cs typeface="Times New Roman" panose="02020603050405020304" pitchFamily="18" charset="0"/>
              </a:rPr>
              <a:t>3.Extracted raw HTML elements and parsed them into structured tabular format using </a:t>
            </a:r>
            <a:r>
              <a:rPr lang="en-US" sz="1800" b="1" dirty="0">
                <a:latin typeface="Times New Roman" panose="02020603050405020304" pitchFamily="18" charset="0"/>
                <a:cs typeface="Times New Roman" panose="02020603050405020304" pitchFamily="18" charset="0"/>
              </a:rPr>
              <a:t>pandas</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4.Stored the extracted data in CSV format for further cleaning, analysis, and visualization.</a:t>
            </a:r>
            <a:endParaRPr lang="en-IN" sz="1800"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72E120EE-A60C-8DED-BCAB-EB89552797F1}"/>
              </a:ext>
            </a:extLst>
          </p:cNvPr>
          <p:cNvPicPr>
            <a:picLocks noChangeAspect="1"/>
          </p:cNvPicPr>
          <p:nvPr/>
        </p:nvPicPr>
        <p:blipFill>
          <a:blip r:embed="rId2"/>
          <a:stretch>
            <a:fillRect/>
          </a:stretch>
        </p:blipFill>
        <p:spPr>
          <a:xfrm>
            <a:off x="156538" y="891104"/>
            <a:ext cx="4544059" cy="3600953"/>
          </a:xfrm>
          <a:prstGeom prst="rect">
            <a:avLst/>
          </a:prstGeom>
        </p:spPr>
      </p:pic>
    </p:spTree>
    <p:extLst>
      <p:ext uri="{BB962C8B-B14F-4D97-AF65-F5344CB8AC3E}">
        <p14:creationId xmlns:p14="http://schemas.microsoft.com/office/powerpoint/2010/main" val="1814155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2196E3-6745-5100-E413-31E4DD6C3AC9}"/>
              </a:ext>
            </a:extLst>
          </p:cNvPr>
          <p:cNvSpPr txBox="1"/>
          <p:nvPr/>
        </p:nvSpPr>
        <p:spPr>
          <a:xfrm>
            <a:off x="78658" y="0"/>
            <a:ext cx="4562168" cy="707886"/>
          </a:xfrm>
          <a:prstGeom prst="rect">
            <a:avLst/>
          </a:prstGeom>
          <a:noFill/>
        </p:spPr>
        <p:txBody>
          <a:bodyPr wrap="square" rtlCol="0">
            <a:spAutoFit/>
          </a:bodyPr>
          <a:lstStyle/>
          <a:p>
            <a:r>
              <a:rPr lang="en-IN" sz="4000" dirty="0">
                <a:solidFill>
                  <a:srgbClr val="FF0000"/>
                </a:solidFill>
                <a:latin typeface="Times New Roman" panose="02020603050405020304" pitchFamily="18" charset="0"/>
                <a:cs typeface="Times New Roman" panose="02020603050405020304" pitchFamily="18" charset="0"/>
              </a:rPr>
              <a:t>Univariate Analysis</a:t>
            </a:r>
          </a:p>
        </p:txBody>
      </p:sp>
      <p:pic>
        <p:nvPicPr>
          <p:cNvPr id="5" name="Picture 4">
            <a:extLst>
              <a:ext uri="{FF2B5EF4-FFF2-40B4-BE49-F238E27FC236}">
                <a16:creationId xmlns:a16="http://schemas.microsoft.com/office/drawing/2014/main" id="{5A970553-B5E3-5F89-DE0C-F2C477D4F66B}"/>
              </a:ext>
            </a:extLst>
          </p:cNvPr>
          <p:cNvPicPr>
            <a:picLocks noChangeAspect="1"/>
          </p:cNvPicPr>
          <p:nvPr/>
        </p:nvPicPr>
        <p:blipFill>
          <a:blip r:embed="rId2"/>
          <a:stretch>
            <a:fillRect/>
          </a:stretch>
        </p:blipFill>
        <p:spPr>
          <a:xfrm>
            <a:off x="230973" y="707886"/>
            <a:ext cx="4640826" cy="3510154"/>
          </a:xfrm>
          <a:prstGeom prst="rect">
            <a:avLst/>
          </a:prstGeom>
        </p:spPr>
      </p:pic>
      <p:pic>
        <p:nvPicPr>
          <p:cNvPr id="8" name="Picture 7">
            <a:extLst>
              <a:ext uri="{FF2B5EF4-FFF2-40B4-BE49-F238E27FC236}">
                <a16:creationId xmlns:a16="http://schemas.microsoft.com/office/drawing/2014/main" id="{71838D5B-E05D-F711-BEA5-E31574FEF28A}"/>
              </a:ext>
            </a:extLst>
          </p:cNvPr>
          <p:cNvPicPr>
            <a:picLocks noChangeAspect="1"/>
          </p:cNvPicPr>
          <p:nvPr/>
        </p:nvPicPr>
        <p:blipFill>
          <a:blip r:embed="rId3"/>
          <a:stretch>
            <a:fillRect/>
          </a:stretch>
        </p:blipFill>
        <p:spPr>
          <a:xfrm>
            <a:off x="5614049" y="707886"/>
            <a:ext cx="5668166" cy="3510154"/>
          </a:xfrm>
          <a:prstGeom prst="rect">
            <a:avLst/>
          </a:prstGeom>
        </p:spPr>
      </p:pic>
      <p:sp>
        <p:nvSpPr>
          <p:cNvPr id="9" name="TextBox 8">
            <a:extLst>
              <a:ext uri="{FF2B5EF4-FFF2-40B4-BE49-F238E27FC236}">
                <a16:creationId xmlns:a16="http://schemas.microsoft.com/office/drawing/2014/main" id="{D7BD4847-1FFE-D68D-6B96-122222372959}"/>
              </a:ext>
            </a:extLst>
          </p:cNvPr>
          <p:cNvSpPr txBox="1"/>
          <p:nvPr/>
        </p:nvSpPr>
        <p:spPr>
          <a:xfrm>
            <a:off x="366749" y="4218040"/>
            <a:ext cx="5407202" cy="2369880"/>
          </a:xfrm>
          <a:prstGeom prst="rect">
            <a:avLst/>
          </a:prstGeom>
          <a:noFill/>
        </p:spPr>
        <p:txBody>
          <a:bodyPr wrap="square" rtlCol="0">
            <a:spAutoFit/>
          </a:bodyPr>
          <a:lstStyle/>
          <a:p>
            <a:r>
              <a:rPr lang="en-US" sz="2000" dirty="0">
                <a:solidFill>
                  <a:srgbClr val="FF0000"/>
                </a:solidFill>
                <a:latin typeface="Times New Roman" panose="02020603050405020304" pitchFamily="18" charset="0"/>
                <a:cs typeface="Times New Roman" panose="02020603050405020304" pitchFamily="18" charset="0"/>
              </a:rPr>
              <a:t>Insight:</a:t>
            </a:r>
          </a:p>
          <a:p>
            <a:endParaRPr lang="en-US" sz="2000" dirty="0">
              <a:solidFill>
                <a:srgbClr val="FF0000"/>
              </a:solidFill>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“The visualization highlights brand-wise supply distribution in the used-car market. Maruti dominates listings, indicating high resale activity, while brands like Toyota and Nissan show limited availability, suggesting potential scarcity-driven pricing. Easier for buyers to find Maruti cars at competitive prices”</a:t>
            </a:r>
          </a:p>
        </p:txBody>
      </p:sp>
      <p:sp>
        <p:nvSpPr>
          <p:cNvPr id="10" name="TextBox 9">
            <a:extLst>
              <a:ext uri="{FF2B5EF4-FFF2-40B4-BE49-F238E27FC236}">
                <a16:creationId xmlns:a16="http://schemas.microsoft.com/office/drawing/2014/main" id="{D1272B83-9BAB-A72B-1D11-EE156BA0748D}"/>
              </a:ext>
            </a:extLst>
          </p:cNvPr>
          <p:cNvSpPr txBox="1"/>
          <p:nvPr/>
        </p:nvSpPr>
        <p:spPr>
          <a:xfrm>
            <a:off x="6418051" y="4171027"/>
            <a:ext cx="4986829" cy="2400657"/>
          </a:xfrm>
          <a:prstGeom prst="rect">
            <a:avLst/>
          </a:prstGeom>
          <a:noFill/>
        </p:spPr>
        <p:txBody>
          <a:bodyPr wrap="square" rtlCol="0">
            <a:spAutoFit/>
          </a:bodyPr>
          <a:lstStyle/>
          <a:p>
            <a:r>
              <a:rPr lang="en-US" sz="2000" dirty="0">
                <a:solidFill>
                  <a:srgbClr val="FF0000"/>
                </a:solidFill>
                <a:latin typeface="Times New Roman" panose="02020603050405020304" pitchFamily="18" charset="0"/>
                <a:cs typeface="Times New Roman" panose="02020603050405020304" pitchFamily="18" charset="0"/>
              </a:rPr>
              <a:t>Insight:</a:t>
            </a:r>
          </a:p>
          <a:p>
            <a:endParaRPr lang="en-US" sz="2000" dirty="0">
              <a:solidFill>
                <a:srgbClr val="FF0000"/>
              </a:solidFill>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“The fuel-type distribution shows that petrol cars dominate the used-car listings, accounting for 85% of the supply. Diesel cars form a smaller segment, indicating changing market preferences and the impact of emission regulations. Buyers have more options and better price negotiation in petrol cars.”</a:t>
            </a:r>
          </a:p>
          <a:p>
            <a:endParaRPr lang="en-IN" dirty="0"/>
          </a:p>
        </p:txBody>
      </p:sp>
    </p:spTree>
    <p:extLst>
      <p:ext uri="{BB962C8B-B14F-4D97-AF65-F5344CB8AC3E}">
        <p14:creationId xmlns:p14="http://schemas.microsoft.com/office/powerpoint/2010/main" val="1222900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57782C-6650-D8BD-70F0-927E35C741A6}"/>
              </a:ext>
            </a:extLst>
          </p:cNvPr>
          <p:cNvPicPr>
            <a:picLocks noChangeAspect="1"/>
          </p:cNvPicPr>
          <p:nvPr/>
        </p:nvPicPr>
        <p:blipFill>
          <a:blip r:embed="rId2"/>
          <a:stretch>
            <a:fillRect/>
          </a:stretch>
        </p:blipFill>
        <p:spPr>
          <a:xfrm>
            <a:off x="403123" y="216309"/>
            <a:ext cx="5523331" cy="4316362"/>
          </a:xfrm>
          <a:prstGeom prst="rect">
            <a:avLst/>
          </a:prstGeom>
        </p:spPr>
      </p:pic>
      <p:sp>
        <p:nvSpPr>
          <p:cNvPr id="5" name="TextBox 4">
            <a:extLst>
              <a:ext uri="{FF2B5EF4-FFF2-40B4-BE49-F238E27FC236}">
                <a16:creationId xmlns:a16="http://schemas.microsoft.com/office/drawing/2014/main" id="{A5452948-E62F-2368-27E3-364D0092EE23}"/>
              </a:ext>
            </a:extLst>
          </p:cNvPr>
          <p:cNvSpPr txBox="1"/>
          <p:nvPr/>
        </p:nvSpPr>
        <p:spPr>
          <a:xfrm>
            <a:off x="186813" y="4316362"/>
            <a:ext cx="5739641" cy="2554545"/>
          </a:xfrm>
          <a:prstGeom prst="rect">
            <a:avLst/>
          </a:prstGeom>
          <a:noFill/>
        </p:spPr>
        <p:txBody>
          <a:bodyPr wrap="square" rtlCol="0">
            <a:spAutoFit/>
          </a:bodyPr>
          <a:lstStyle/>
          <a:p>
            <a:r>
              <a:rPr lang="en-US" sz="2000" dirty="0">
                <a:solidFill>
                  <a:srgbClr val="FF0000"/>
                </a:solidFill>
                <a:latin typeface="Times New Roman" panose="02020603050405020304" pitchFamily="18" charset="0"/>
                <a:cs typeface="Times New Roman" panose="02020603050405020304" pitchFamily="18" charset="0"/>
              </a:rPr>
              <a:t>Insight:</a:t>
            </a:r>
          </a:p>
          <a:p>
            <a:endParaRPr lang="en-US" dirty="0"/>
          </a:p>
          <a:p>
            <a:pPr algn="just"/>
            <a:r>
              <a:rPr lang="en-US" sz="1800" dirty="0">
                <a:latin typeface="Times New Roman" panose="02020603050405020304" pitchFamily="18" charset="0"/>
                <a:cs typeface="Times New Roman" panose="02020603050405020304" pitchFamily="18" charset="0"/>
              </a:rPr>
              <a:t>The price distribution of used cars is positively skewed, with most listings concentrated in the ₹2–4 lakh range. A small number of high-priced vehicles create outliers, reinforcing the use of median price for accurate market analysis. Few cars priced above ₹8–12 lakhs. These are likely: Premium brands, Newer models, Low km driven vehicles”</a:t>
            </a:r>
            <a:endParaRPr lang="en-IN" sz="18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C6E74A6-F669-3314-003E-9FF13E52FD81}"/>
              </a:ext>
            </a:extLst>
          </p:cNvPr>
          <p:cNvPicPr>
            <a:picLocks noChangeAspect="1"/>
          </p:cNvPicPr>
          <p:nvPr/>
        </p:nvPicPr>
        <p:blipFill>
          <a:blip r:embed="rId3"/>
          <a:stretch>
            <a:fillRect/>
          </a:stretch>
        </p:blipFill>
        <p:spPr>
          <a:xfrm>
            <a:off x="6204155" y="301707"/>
            <a:ext cx="5584722" cy="5922112"/>
          </a:xfrm>
          <a:prstGeom prst="rect">
            <a:avLst/>
          </a:prstGeom>
        </p:spPr>
      </p:pic>
    </p:spTree>
    <p:extLst>
      <p:ext uri="{BB962C8B-B14F-4D97-AF65-F5344CB8AC3E}">
        <p14:creationId xmlns:p14="http://schemas.microsoft.com/office/powerpoint/2010/main" val="2368498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0A4CAF-CBE0-4BC4-41DE-ED27D80D9274}"/>
              </a:ext>
            </a:extLst>
          </p:cNvPr>
          <p:cNvSpPr txBox="1"/>
          <p:nvPr/>
        </p:nvSpPr>
        <p:spPr>
          <a:xfrm>
            <a:off x="1" y="0"/>
            <a:ext cx="5358580" cy="707886"/>
          </a:xfrm>
          <a:prstGeom prst="rect">
            <a:avLst/>
          </a:prstGeom>
          <a:noFill/>
        </p:spPr>
        <p:txBody>
          <a:bodyPr wrap="square" rtlCol="0">
            <a:spAutoFit/>
          </a:bodyPr>
          <a:lstStyle/>
          <a:p>
            <a:r>
              <a:rPr lang="en-IN" sz="4000" dirty="0">
                <a:solidFill>
                  <a:srgbClr val="FF0000"/>
                </a:solidFill>
                <a:latin typeface="Times New Roman" panose="02020603050405020304" pitchFamily="18" charset="0"/>
                <a:cs typeface="Times New Roman" panose="02020603050405020304" pitchFamily="18" charset="0"/>
              </a:rPr>
              <a:t>Bi-variate Analysis</a:t>
            </a:r>
          </a:p>
        </p:txBody>
      </p:sp>
      <p:pic>
        <p:nvPicPr>
          <p:cNvPr id="5" name="Picture 4">
            <a:extLst>
              <a:ext uri="{FF2B5EF4-FFF2-40B4-BE49-F238E27FC236}">
                <a16:creationId xmlns:a16="http://schemas.microsoft.com/office/drawing/2014/main" id="{0141CF7F-22F1-64F9-1410-98311F394CDE}"/>
              </a:ext>
            </a:extLst>
          </p:cNvPr>
          <p:cNvPicPr>
            <a:picLocks noChangeAspect="1"/>
          </p:cNvPicPr>
          <p:nvPr/>
        </p:nvPicPr>
        <p:blipFill>
          <a:blip r:embed="rId2"/>
          <a:stretch>
            <a:fillRect/>
          </a:stretch>
        </p:blipFill>
        <p:spPr>
          <a:xfrm>
            <a:off x="399554" y="681310"/>
            <a:ext cx="5358580" cy="3423527"/>
          </a:xfrm>
          <a:prstGeom prst="rect">
            <a:avLst/>
          </a:prstGeom>
        </p:spPr>
      </p:pic>
      <p:pic>
        <p:nvPicPr>
          <p:cNvPr id="8" name="Picture 7">
            <a:extLst>
              <a:ext uri="{FF2B5EF4-FFF2-40B4-BE49-F238E27FC236}">
                <a16:creationId xmlns:a16="http://schemas.microsoft.com/office/drawing/2014/main" id="{572D1B6D-DD73-BF90-1F02-3AD84EF3E49D}"/>
              </a:ext>
            </a:extLst>
          </p:cNvPr>
          <p:cNvPicPr>
            <a:picLocks noChangeAspect="1"/>
          </p:cNvPicPr>
          <p:nvPr/>
        </p:nvPicPr>
        <p:blipFill>
          <a:blip r:embed="rId3"/>
          <a:stretch>
            <a:fillRect/>
          </a:stretch>
        </p:blipFill>
        <p:spPr>
          <a:xfrm>
            <a:off x="6157686" y="750409"/>
            <a:ext cx="5634759" cy="3318104"/>
          </a:xfrm>
          <a:prstGeom prst="rect">
            <a:avLst/>
          </a:prstGeom>
        </p:spPr>
      </p:pic>
      <p:sp>
        <p:nvSpPr>
          <p:cNvPr id="9" name="TextBox 8">
            <a:extLst>
              <a:ext uri="{FF2B5EF4-FFF2-40B4-BE49-F238E27FC236}">
                <a16:creationId xmlns:a16="http://schemas.microsoft.com/office/drawing/2014/main" id="{2C6A792E-0DC4-F750-9967-5EF952CCBC71}"/>
              </a:ext>
            </a:extLst>
          </p:cNvPr>
          <p:cNvSpPr txBox="1"/>
          <p:nvPr/>
        </p:nvSpPr>
        <p:spPr>
          <a:xfrm>
            <a:off x="395985" y="3970190"/>
            <a:ext cx="5358580" cy="3200876"/>
          </a:xfrm>
          <a:prstGeom prst="rect">
            <a:avLst/>
          </a:prstGeom>
          <a:noFill/>
        </p:spPr>
        <p:txBody>
          <a:bodyPr wrap="square" rtlCol="0">
            <a:spAutoFit/>
          </a:bodyPr>
          <a:lstStyle/>
          <a:p>
            <a:r>
              <a:rPr lang="en-IN" sz="2000" dirty="0">
                <a:solidFill>
                  <a:srgbClr val="FF0000"/>
                </a:solidFill>
                <a:latin typeface="Times New Roman" panose="02020603050405020304" pitchFamily="18" charset="0"/>
                <a:cs typeface="Times New Roman" panose="02020603050405020304" pitchFamily="18" charset="0"/>
              </a:rPr>
              <a:t>Insight:</a:t>
            </a:r>
          </a:p>
          <a:p>
            <a:endParaRPr lang="en-IN" dirty="0"/>
          </a:p>
          <a:p>
            <a:pPr algn="just"/>
            <a:r>
              <a:rPr lang="en-US" sz="1800" dirty="0">
                <a:latin typeface="Times New Roman" panose="02020603050405020304" pitchFamily="18" charset="0"/>
                <a:cs typeface="Times New Roman" panose="02020603050405020304" pitchFamily="18" charset="0"/>
              </a:rPr>
              <a:t>“The scatter plot reveals a negative correlation between kilometers driven and resale price. While price generally decreases with higher usage, mileage levels highlights the importance of brand, model, and vehicle condition. As kilometers driven increase, price generally decreases. Clear evidence of car depreciation with usage”</a:t>
            </a:r>
            <a:endParaRPr lang="en-IN" dirty="0"/>
          </a:p>
          <a:p>
            <a:endParaRPr lang="en-IN" dirty="0"/>
          </a:p>
          <a:p>
            <a:endParaRPr lang="en-IN" dirty="0"/>
          </a:p>
          <a:p>
            <a:endParaRPr lang="en-IN" dirty="0"/>
          </a:p>
        </p:txBody>
      </p:sp>
      <p:sp>
        <p:nvSpPr>
          <p:cNvPr id="10" name="TextBox 9">
            <a:extLst>
              <a:ext uri="{FF2B5EF4-FFF2-40B4-BE49-F238E27FC236}">
                <a16:creationId xmlns:a16="http://schemas.microsoft.com/office/drawing/2014/main" id="{6A74B70C-25E8-0A6E-9B6E-5505FF2FF57C}"/>
              </a:ext>
            </a:extLst>
          </p:cNvPr>
          <p:cNvSpPr txBox="1"/>
          <p:nvPr/>
        </p:nvSpPr>
        <p:spPr>
          <a:xfrm>
            <a:off x="5878816" y="3970190"/>
            <a:ext cx="5634759" cy="3139321"/>
          </a:xfrm>
          <a:prstGeom prst="rect">
            <a:avLst/>
          </a:prstGeom>
          <a:noFill/>
        </p:spPr>
        <p:txBody>
          <a:bodyPr wrap="square" rtlCol="0">
            <a:spAutoFit/>
          </a:bodyPr>
          <a:lstStyle/>
          <a:p>
            <a:r>
              <a:rPr lang="en-US" sz="2000" dirty="0">
                <a:solidFill>
                  <a:srgbClr val="FF0000"/>
                </a:solidFill>
                <a:latin typeface="Times New Roman" panose="02020603050405020304" pitchFamily="18" charset="0"/>
                <a:cs typeface="Times New Roman" panose="02020603050405020304" pitchFamily="18" charset="0"/>
              </a:rPr>
              <a:t>Insight:</a:t>
            </a:r>
          </a:p>
          <a:p>
            <a:endParaRPr lang="en-US" dirty="0"/>
          </a:p>
          <a:p>
            <a:pPr algn="just"/>
            <a:r>
              <a:rPr lang="en-US" sz="1800" dirty="0">
                <a:latin typeface="Times New Roman" panose="02020603050405020304" pitchFamily="18" charset="0"/>
                <a:cs typeface="Times New Roman" panose="02020603050405020304" pitchFamily="18" charset="0"/>
              </a:rPr>
              <a:t>“The boxplot reveals a right-skewed price distribution with a few high-price outliers. Since these extreme values can bias the mean, the median price is a more reliable metric for understanding the typical used-car price. One or more cars priced around ₹12–13 lakhs lie outside the upper whisker. These are statistical outliers”</a:t>
            </a:r>
            <a:endParaRPr lang="en-IN" sz="1800" dirty="0">
              <a:latin typeface="Times New Roman" panose="02020603050405020304" pitchFamily="18" charset="0"/>
              <a:cs typeface="Times New Roman" panose="02020603050405020304" pitchFamily="18" charset="0"/>
            </a:endParaRP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2251651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44DE95-E906-B45C-F00D-EC222FDA1068}"/>
              </a:ext>
            </a:extLst>
          </p:cNvPr>
          <p:cNvPicPr>
            <a:picLocks noChangeAspect="1"/>
          </p:cNvPicPr>
          <p:nvPr/>
        </p:nvPicPr>
        <p:blipFill>
          <a:blip r:embed="rId2"/>
          <a:stretch>
            <a:fillRect/>
          </a:stretch>
        </p:blipFill>
        <p:spPr>
          <a:xfrm>
            <a:off x="1672563" y="0"/>
            <a:ext cx="7755643" cy="4591665"/>
          </a:xfrm>
          <a:prstGeom prst="rect">
            <a:avLst/>
          </a:prstGeom>
        </p:spPr>
      </p:pic>
      <p:sp>
        <p:nvSpPr>
          <p:cNvPr id="5" name="TextBox 4">
            <a:extLst>
              <a:ext uri="{FF2B5EF4-FFF2-40B4-BE49-F238E27FC236}">
                <a16:creationId xmlns:a16="http://schemas.microsoft.com/office/drawing/2014/main" id="{0EF6DEF8-96F5-8E1B-1E2D-CBD6086E6840}"/>
              </a:ext>
            </a:extLst>
          </p:cNvPr>
          <p:cNvSpPr txBox="1"/>
          <p:nvPr/>
        </p:nvSpPr>
        <p:spPr>
          <a:xfrm>
            <a:off x="383458" y="4591666"/>
            <a:ext cx="11434915" cy="2169825"/>
          </a:xfrm>
          <a:prstGeom prst="rect">
            <a:avLst/>
          </a:prstGeom>
          <a:noFill/>
        </p:spPr>
        <p:txBody>
          <a:bodyPr wrap="square" rtlCol="0">
            <a:spAutoFit/>
          </a:bodyPr>
          <a:lstStyle/>
          <a:p>
            <a:r>
              <a:rPr lang="en-IN" sz="2000" dirty="0">
                <a:solidFill>
                  <a:srgbClr val="FF0000"/>
                </a:solidFill>
                <a:latin typeface="Times New Roman" panose="02020603050405020304" pitchFamily="18" charset="0"/>
                <a:cs typeface="Times New Roman" panose="02020603050405020304" pitchFamily="18" charset="0"/>
              </a:rPr>
              <a:t>Insight:</a:t>
            </a:r>
          </a:p>
          <a:p>
            <a:endParaRPr lang="en-IN" sz="2000" dirty="0">
              <a:solidFill>
                <a:srgbClr val="FF0000"/>
              </a:solidFill>
              <a:latin typeface="Times New Roman" panose="02020603050405020304" pitchFamily="18" charset="0"/>
              <a:cs typeface="Times New Roman" panose="02020603050405020304" pitchFamily="18" charset="0"/>
            </a:endParaRPr>
          </a:p>
          <a:p>
            <a:pPr>
              <a:lnSpc>
                <a:spcPct val="150000"/>
              </a:lnSpc>
            </a:pPr>
            <a:r>
              <a:rPr lang="en-US" dirty="0"/>
              <a:t>“</a:t>
            </a:r>
            <a:r>
              <a:rPr lang="en-US" sz="1800" dirty="0">
                <a:latin typeface="Times New Roman" panose="02020603050405020304" pitchFamily="18" charset="0"/>
                <a:cs typeface="Times New Roman" panose="02020603050405020304" pitchFamily="18" charset="0"/>
              </a:rPr>
              <a:t>The brand-wise price distribution shows clear market segmentation, with premium brands like Toyota and Mahindra commanding higher resale prices, while mass-market brands such as Maruti and Renault dominate the lower price segment.”</a:t>
            </a:r>
            <a:endParaRPr lang="en-IN" dirty="0"/>
          </a:p>
          <a:p>
            <a:endParaRPr lang="en-IN" dirty="0"/>
          </a:p>
        </p:txBody>
      </p:sp>
    </p:spTree>
    <p:extLst>
      <p:ext uri="{BB962C8B-B14F-4D97-AF65-F5344CB8AC3E}">
        <p14:creationId xmlns:p14="http://schemas.microsoft.com/office/powerpoint/2010/main" val="2727683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4AA85F-40B0-776F-B52B-6150E75C98D4}"/>
              </a:ext>
            </a:extLst>
          </p:cNvPr>
          <p:cNvSpPr txBox="1"/>
          <p:nvPr/>
        </p:nvSpPr>
        <p:spPr>
          <a:xfrm>
            <a:off x="137652" y="0"/>
            <a:ext cx="10953135" cy="6524863"/>
          </a:xfrm>
          <a:prstGeom prst="rect">
            <a:avLst/>
          </a:prstGeom>
          <a:noFill/>
        </p:spPr>
        <p:txBody>
          <a:bodyPr wrap="square" rtlCol="0">
            <a:spAutoFit/>
          </a:bodyPr>
          <a:lstStyle/>
          <a:p>
            <a:r>
              <a:rPr lang="en-IN" sz="4000" dirty="0">
                <a:solidFill>
                  <a:srgbClr val="FF0000"/>
                </a:solidFill>
                <a:latin typeface="Times New Roman" panose="02020603050405020304" pitchFamily="18" charset="0"/>
                <a:cs typeface="Times New Roman" panose="02020603050405020304" pitchFamily="18" charset="0"/>
              </a:rPr>
              <a:t>Multi-Variate Analysis</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r>
              <a:rPr lang="en-IN" sz="2000" dirty="0">
                <a:solidFill>
                  <a:srgbClr val="FF0000"/>
                </a:solidFill>
                <a:latin typeface="Times New Roman" panose="02020603050405020304" pitchFamily="18" charset="0"/>
                <a:cs typeface="Times New Roman" panose="02020603050405020304" pitchFamily="18" charset="0"/>
              </a:rPr>
              <a:t>Insight:</a:t>
            </a:r>
          </a:p>
          <a:p>
            <a:endParaRPr lang="en-IN" dirty="0"/>
          </a:p>
          <a:p>
            <a:pPr algn="just"/>
            <a:r>
              <a:rPr lang="en-US" sz="1800" dirty="0">
                <a:latin typeface="Times New Roman" panose="02020603050405020304" pitchFamily="18" charset="0"/>
                <a:cs typeface="Times New Roman" panose="02020603050405020304" pitchFamily="18" charset="0"/>
              </a:rPr>
              <a:t>“The correlation analysis shows that manufacture year has a strong positive relationship with price, while kilometers driven has a moderate negative impact. This indicates that car age plays a more critical role in used-car valuation.”</a:t>
            </a:r>
            <a:endParaRPr lang="en-IN" dirty="0"/>
          </a:p>
          <a:p>
            <a:endParaRPr lang="en-IN" dirty="0"/>
          </a:p>
          <a:p>
            <a:endParaRPr lang="en-IN" dirty="0"/>
          </a:p>
        </p:txBody>
      </p:sp>
      <p:pic>
        <p:nvPicPr>
          <p:cNvPr id="4" name="Picture 3">
            <a:extLst>
              <a:ext uri="{FF2B5EF4-FFF2-40B4-BE49-F238E27FC236}">
                <a16:creationId xmlns:a16="http://schemas.microsoft.com/office/drawing/2014/main" id="{E710460D-883A-4D3C-5A52-A0EDE4196B7B}"/>
              </a:ext>
            </a:extLst>
          </p:cNvPr>
          <p:cNvPicPr>
            <a:picLocks noChangeAspect="1"/>
          </p:cNvPicPr>
          <p:nvPr/>
        </p:nvPicPr>
        <p:blipFill>
          <a:blip r:embed="rId2"/>
          <a:stretch>
            <a:fillRect/>
          </a:stretch>
        </p:blipFill>
        <p:spPr>
          <a:xfrm>
            <a:off x="1032609" y="855407"/>
            <a:ext cx="9548327" cy="3972232"/>
          </a:xfrm>
          <a:prstGeom prst="rect">
            <a:avLst/>
          </a:prstGeom>
        </p:spPr>
      </p:pic>
    </p:spTree>
    <p:extLst>
      <p:ext uri="{BB962C8B-B14F-4D97-AF65-F5344CB8AC3E}">
        <p14:creationId xmlns:p14="http://schemas.microsoft.com/office/powerpoint/2010/main" val="1153506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BB1927-E81B-E7A2-0487-D6311807B8B3}"/>
              </a:ext>
            </a:extLst>
          </p:cNvPr>
          <p:cNvSpPr txBox="1"/>
          <p:nvPr/>
        </p:nvSpPr>
        <p:spPr>
          <a:xfrm>
            <a:off x="137651" y="88490"/>
            <a:ext cx="11877367" cy="10341293"/>
          </a:xfrm>
          <a:prstGeom prst="rect">
            <a:avLst/>
          </a:prstGeom>
          <a:noFill/>
        </p:spPr>
        <p:txBody>
          <a:bodyPr wrap="square" rtlCol="0">
            <a:spAutoFit/>
          </a:bodyPr>
          <a:lstStyle/>
          <a:p>
            <a:r>
              <a:rPr lang="en-IN" sz="4000" dirty="0">
                <a:solidFill>
                  <a:srgbClr val="FF0000"/>
                </a:solidFill>
                <a:latin typeface="Times New Roman" panose="02020603050405020304" pitchFamily="18" charset="0"/>
                <a:cs typeface="Times New Roman" panose="02020603050405020304" pitchFamily="18" charset="0"/>
              </a:rPr>
              <a:t>Hypothesis Testing</a:t>
            </a:r>
          </a:p>
          <a:p>
            <a:pPr algn="just">
              <a:lnSpc>
                <a:spcPct val="150000"/>
              </a:lnSpc>
            </a:pPr>
            <a:r>
              <a:rPr lang="en-IN" sz="2000" dirty="0">
                <a:latin typeface="Times New Roman" panose="02020603050405020304" pitchFamily="18" charset="0"/>
                <a:cs typeface="Times New Roman" panose="02020603050405020304" pitchFamily="18" charset="0"/>
              </a:rPr>
              <a:t>Hypothesis testing helps us to:</a:t>
            </a:r>
          </a:p>
          <a:p>
            <a:pPr algn="just">
              <a:lnSpc>
                <a:spcPct val="150000"/>
              </a:lnSpc>
            </a:pPr>
            <a:r>
              <a:rPr lang="en-US" sz="2000" dirty="0">
                <a:latin typeface="Times New Roman" panose="02020603050405020304" pitchFamily="18" charset="0"/>
                <a:cs typeface="Times New Roman" panose="02020603050405020304" pitchFamily="18" charset="0"/>
              </a:rPr>
              <a:t>1. Validate assumptions with statistical evidence</a:t>
            </a:r>
          </a:p>
          <a:p>
            <a:pPr algn="just">
              <a:lnSpc>
                <a:spcPct val="150000"/>
              </a:lnSpc>
            </a:pPr>
            <a:r>
              <a:rPr lang="en-US" sz="2000" dirty="0">
                <a:latin typeface="Times New Roman" panose="02020603050405020304" pitchFamily="18" charset="0"/>
                <a:cs typeface="Times New Roman" panose="02020603050405020304" pitchFamily="18" charset="0"/>
              </a:rPr>
              <a:t>2. Avoid decisions based only on visual trends                   </a:t>
            </a:r>
          </a:p>
          <a:p>
            <a:pPr algn="just">
              <a:lnSpc>
                <a:spcPct val="150000"/>
              </a:lnSpc>
            </a:pPr>
            <a:r>
              <a:rPr lang="en-US" sz="2000" dirty="0">
                <a:latin typeface="Times New Roman" panose="02020603050405020304" pitchFamily="18" charset="0"/>
                <a:cs typeface="Times New Roman" panose="02020603050405020304" pitchFamily="18" charset="0"/>
              </a:rPr>
              <a:t>3. Provide confidence-backed insights</a:t>
            </a:r>
          </a:p>
          <a:p>
            <a:pPr algn="just">
              <a:lnSpc>
                <a:spcPct val="150000"/>
              </a:lnSpc>
            </a:pPr>
            <a:endParaRPr lang="en-IN" sz="2000"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1. Is Km Driven related to price?</a:t>
            </a:r>
          </a:p>
          <a:p>
            <a:pPr algn="just">
              <a:lnSpc>
                <a:spcPct val="150000"/>
              </a:lnSpc>
            </a:pPr>
            <a:r>
              <a:rPr lang="en-US" sz="2000" dirty="0">
                <a:latin typeface="Times New Roman" panose="02020603050405020304" pitchFamily="18" charset="0"/>
                <a:cs typeface="Times New Roman" panose="02020603050405020304" pitchFamily="18" charset="0"/>
              </a:rPr>
              <a:t>🔹 Hypothesis</a:t>
            </a:r>
          </a:p>
          <a:p>
            <a:pPr algn="just">
              <a:lnSpc>
                <a:spcPct val="150000"/>
              </a:lnSpc>
            </a:pPr>
            <a:r>
              <a:rPr lang="en-US" sz="2000" dirty="0">
                <a:latin typeface="Times New Roman" panose="02020603050405020304" pitchFamily="18" charset="0"/>
                <a:cs typeface="Times New Roman" panose="02020603050405020304" pitchFamily="18" charset="0"/>
              </a:rPr>
              <a:t>H₀: Km Driven has no impact on car price</a:t>
            </a:r>
          </a:p>
          <a:p>
            <a:pPr algn="just">
              <a:lnSpc>
                <a:spcPct val="150000"/>
              </a:lnSpc>
            </a:pPr>
            <a:r>
              <a:rPr lang="en-US" sz="2000" dirty="0">
                <a:latin typeface="Times New Roman" panose="02020603050405020304" pitchFamily="18" charset="0"/>
                <a:cs typeface="Times New Roman" panose="02020603050405020304" pitchFamily="18" charset="0"/>
              </a:rPr>
              <a:t>H₁: Km Driven significantly impacts car price</a:t>
            </a:r>
          </a:p>
          <a:p>
            <a:pPr algn="just">
              <a:lnSpc>
                <a:spcPct val="150000"/>
              </a:lnSpc>
            </a:pPr>
            <a:r>
              <a:rPr lang="en-US" sz="2000" b="1" dirty="0">
                <a:latin typeface="Times New Roman" panose="02020603050405020304" pitchFamily="18" charset="0"/>
                <a:cs typeface="Times New Roman" panose="02020603050405020304" pitchFamily="18" charset="0"/>
              </a:rPr>
              <a:t>🔹 Test Used</a:t>
            </a:r>
          </a:p>
          <a:p>
            <a:pPr algn="just">
              <a:lnSpc>
                <a:spcPct val="150000"/>
              </a:lnSpc>
            </a:pPr>
            <a:r>
              <a:rPr lang="en-US" sz="2000" dirty="0">
                <a:latin typeface="Times New Roman" panose="02020603050405020304" pitchFamily="18" charset="0"/>
                <a:cs typeface="Times New Roman" panose="02020603050405020304" pitchFamily="18" charset="0"/>
              </a:rPr>
              <a:t>✅ Pearson Correlation Test</a:t>
            </a:r>
          </a:p>
          <a:p>
            <a:pPr algn="just">
              <a:lnSpc>
                <a:spcPct val="150000"/>
              </a:lnSpc>
            </a:pPr>
            <a:endParaRPr lang="en-IN" sz="2000" dirty="0">
              <a:latin typeface="Times New Roman" panose="02020603050405020304" pitchFamily="18" charset="0"/>
              <a:cs typeface="Times New Roman" panose="02020603050405020304" pitchFamily="18" charset="0"/>
            </a:endParaRP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pic>
        <p:nvPicPr>
          <p:cNvPr id="4" name="Picture 3">
            <a:extLst>
              <a:ext uri="{FF2B5EF4-FFF2-40B4-BE49-F238E27FC236}">
                <a16:creationId xmlns:a16="http://schemas.microsoft.com/office/drawing/2014/main" id="{90B78C18-DB97-9043-19AC-A03230A0A14B}"/>
              </a:ext>
            </a:extLst>
          </p:cNvPr>
          <p:cNvPicPr>
            <a:picLocks noChangeAspect="1"/>
          </p:cNvPicPr>
          <p:nvPr/>
        </p:nvPicPr>
        <p:blipFill>
          <a:blip r:embed="rId2"/>
          <a:stretch>
            <a:fillRect/>
          </a:stretch>
        </p:blipFill>
        <p:spPr>
          <a:xfrm>
            <a:off x="5014452" y="3428999"/>
            <a:ext cx="6607924" cy="2853813"/>
          </a:xfrm>
          <a:prstGeom prst="rect">
            <a:avLst/>
          </a:prstGeom>
        </p:spPr>
      </p:pic>
    </p:spTree>
    <p:extLst>
      <p:ext uri="{BB962C8B-B14F-4D97-AF65-F5344CB8AC3E}">
        <p14:creationId xmlns:p14="http://schemas.microsoft.com/office/powerpoint/2010/main" val="2898551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902664-46A7-1D4E-73F6-729AF9FAB169}"/>
              </a:ext>
            </a:extLst>
          </p:cNvPr>
          <p:cNvSpPr txBox="1"/>
          <p:nvPr/>
        </p:nvSpPr>
        <p:spPr>
          <a:xfrm>
            <a:off x="255639" y="88490"/>
            <a:ext cx="11680722" cy="3385542"/>
          </a:xfrm>
          <a:prstGeom prst="rect">
            <a:avLst/>
          </a:prstGeom>
          <a:noFill/>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Decision Rule</a:t>
            </a:r>
          </a:p>
          <a:p>
            <a:pPr algn="just"/>
            <a:r>
              <a:rPr lang="en-US" sz="2000" dirty="0">
                <a:latin typeface="Times New Roman" panose="02020603050405020304" pitchFamily="18" charset="0"/>
                <a:cs typeface="Times New Roman" panose="02020603050405020304" pitchFamily="18" charset="0"/>
              </a:rPr>
              <a:t>If p &lt; 0.05 → Reject H₀</a:t>
            </a:r>
          </a:p>
          <a:p>
            <a:pPr algn="just"/>
            <a:r>
              <a:rPr lang="en-US" sz="2000" dirty="0">
                <a:latin typeface="Times New Roman" panose="02020603050405020304" pitchFamily="18" charset="0"/>
                <a:cs typeface="Times New Roman" panose="02020603050405020304" pitchFamily="18" charset="0"/>
              </a:rPr>
              <a:t>If p ≥ 0.05 → Fail to reject H₀</a:t>
            </a:r>
          </a:p>
          <a:p>
            <a:pPr algn="just"/>
            <a:endParaRPr lang="en-IN"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Insight:</a:t>
            </a:r>
          </a:p>
          <a:p>
            <a:pPr algn="just"/>
            <a:endParaRPr lang="en-US" sz="20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Strong negative correlation → depreciation is a key pricing factor. “There is a statistically significant negative relationship between Km Driven and resale price, confirming that depreciation plays a major role in used-car pricing.”</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A6E7840E-4906-157E-72CF-07F728AB5107}"/>
              </a:ext>
            </a:extLst>
          </p:cNvPr>
          <p:cNvPicPr>
            <a:picLocks noChangeAspect="1"/>
          </p:cNvPicPr>
          <p:nvPr/>
        </p:nvPicPr>
        <p:blipFill>
          <a:blip r:embed="rId2"/>
          <a:stretch>
            <a:fillRect/>
          </a:stretch>
        </p:blipFill>
        <p:spPr>
          <a:xfrm>
            <a:off x="1415846" y="2881185"/>
            <a:ext cx="8160773" cy="3888325"/>
          </a:xfrm>
          <a:prstGeom prst="rect">
            <a:avLst/>
          </a:prstGeom>
        </p:spPr>
      </p:pic>
    </p:spTree>
    <p:extLst>
      <p:ext uri="{BB962C8B-B14F-4D97-AF65-F5344CB8AC3E}">
        <p14:creationId xmlns:p14="http://schemas.microsoft.com/office/powerpoint/2010/main" val="2786346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1365E2-3CA8-3158-3F99-CDD55BFA7F52}"/>
              </a:ext>
            </a:extLst>
          </p:cNvPr>
          <p:cNvSpPr txBox="1"/>
          <p:nvPr/>
        </p:nvSpPr>
        <p:spPr>
          <a:xfrm>
            <a:off x="285135" y="157317"/>
            <a:ext cx="11651225" cy="5447645"/>
          </a:xfrm>
          <a:prstGeom prst="rect">
            <a:avLst/>
          </a:prstGeom>
          <a:noFill/>
        </p:spPr>
        <p:txBody>
          <a:bodyPr wrap="square" rtlCol="0">
            <a:spAutoFit/>
          </a:bodyPr>
          <a:lstStyle/>
          <a:p>
            <a:r>
              <a:rPr lang="en-IN" sz="4000" dirty="0">
                <a:solidFill>
                  <a:srgbClr val="FF0000"/>
                </a:solidFill>
                <a:latin typeface="Times New Roman" panose="02020603050405020304" pitchFamily="18" charset="0"/>
                <a:cs typeface="Times New Roman" panose="02020603050405020304" pitchFamily="18" charset="0"/>
              </a:rPr>
              <a:t>Applications</a:t>
            </a:r>
          </a:p>
          <a:p>
            <a:endParaRPr lang="en-IN" dirty="0"/>
          </a:p>
          <a:p>
            <a:pPr algn="just">
              <a:lnSpc>
                <a:spcPct val="200000"/>
              </a:lnSpc>
            </a:pPr>
            <a:r>
              <a:rPr lang="en-US" sz="2000" dirty="0">
                <a:latin typeface="Times New Roman" panose="02020603050405020304" pitchFamily="18" charset="0"/>
                <a:cs typeface="Times New Roman" panose="02020603050405020304" pitchFamily="18" charset="0"/>
              </a:rPr>
              <a:t>This project has several practical applications for different stakeholders in the used car ecosystem. For used car buyers, the analysis helps in comparing prices across multiple brands and identifying models that offer better value for money. It enables buyers to understand how factors such as fuel type, transmission, car age, and kilometers driven influence prices, thereby supporting more informed purchasing decisions. For sellers, the project provides insights into current market pricing trends, helping them set competitive and realistic prices for their vehicles based on demand and vehicle attributes. From a platform perspective, we can use these insights to improve price benchmarking, optimize inventory planning, and design targeted marketing strategies</a:t>
            </a:r>
            <a:r>
              <a:rPr lang="en-US" dirty="0"/>
              <a:t>.</a:t>
            </a:r>
            <a:endParaRPr lang="en-IN" dirty="0"/>
          </a:p>
          <a:p>
            <a:endParaRPr lang="en-IN" dirty="0"/>
          </a:p>
        </p:txBody>
      </p:sp>
    </p:spTree>
    <p:extLst>
      <p:ext uri="{BB962C8B-B14F-4D97-AF65-F5344CB8AC3E}">
        <p14:creationId xmlns:p14="http://schemas.microsoft.com/office/powerpoint/2010/main" val="1149738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BF986F2-6CDA-8A0F-FF96-EC0EA2A3D2C4}"/>
              </a:ext>
            </a:extLst>
          </p:cNvPr>
          <p:cNvSpPr txBox="1"/>
          <p:nvPr/>
        </p:nvSpPr>
        <p:spPr>
          <a:xfrm>
            <a:off x="176981" y="344129"/>
            <a:ext cx="11926529" cy="5484643"/>
          </a:xfrm>
          <a:prstGeom prst="rect">
            <a:avLst/>
          </a:prstGeom>
          <a:noFill/>
        </p:spPr>
        <p:txBody>
          <a:bodyPr wrap="square" rtlCol="0">
            <a:spAutoFit/>
          </a:bodyPr>
          <a:lstStyle/>
          <a:p>
            <a:r>
              <a:rPr lang="en-IN" sz="4000" dirty="0">
                <a:solidFill>
                  <a:srgbClr val="FF0000"/>
                </a:solidFill>
                <a:latin typeface="Times New Roman" panose="02020603050405020304" pitchFamily="18" charset="0"/>
                <a:cs typeface="Times New Roman" panose="02020603050405020304" pitchFamily="18" charset="0"/>
              </a:rPr>
              <a:t>Conclusion</a:t>
            </a:r>
          </a:p>
          <a:p>
            <a:endParaRPr lang="en-IN" dirty="0"/>
          </a:p>
          <a:p>
            <a:pPr algn="just">
              <a:lnSpc>
                <a:spcPct val="150000"/>
              </a:lnSpc>
            </a:pPr>
            <a:r>
              <a:rPr lang="en-US" sz="2000" dirty="0">
                <a:latin typeface="Times New Roman" panose="02020603050405020304" pitchFamily="18" charset="0"/>
                <a:cs typeface="Times New Roman" panose="02020603050405020304" pitchFamily="18" charset="0"/>
              </a:rPr>
              <a:t>In this project, used car data was collected from the website using web scraping techniques and transformed into a structured dataset for analysis.</a:t>
            </a:r>
          </a:p>
          <a:p>
            <a:pPr algn="just">
              <a:lnSpc>
                <a:spcPct val="150000"/>
              </a:lnSpc>
            </a:pPr>
            <a:r>
              <a:rPr lang="en-US" sz="2000" dirty="0">
                <a:latin typeface="Times New Roman" panose="02020603050405020304" pitchFamily="18" charset="0"/>
                <a:cs typeface="Times New Roman" panose="02020603050405020304" pitchFamily="18" charset="0"/>
              </a:rPr>
              <a:t>The analysis showed that used car prices vary significantly based on kilometers driven, even within the same brand and model.</a:t>
            </a:r>
          </a:p>
          <a:p>
            <a:pPr algn="just">
              <a:lnSpc>
                <a:spcPct val="150000"/>
              </a:lnSpc>
            </a:pPr>
            <a:r>
              <a:rPr lang="en-US" sz="2000" dirty="0">
                <a:latin typeface="Times New Roman" panose="02020603050405020304" pitchFamily="18" charset="0"/>
                <a:cs typeface="Times New Roman" panose="02020603050405020304" pitchFamily="18" charset="0"/>
              </a:rPr>
              <a:t>Key factors such as car age, fuel type, transmission, and usage strongly influence vehicle pricing.</a:t>
            </a:r>
          </a:p>
          <a:p>
            <a:pPr algn="just">
              <a:lnSpc>
                <a:spcPct val="150000"/>
              </a:lnSpc>
            </a:pPr>
            <a:r>
              <a:rPr lang="en-US" sz="2000" dirty="0">
                <a:latin typeface="Times New Roman" panose="02020603050405020304" pitchFamily="18" charset="0"/>
                <a:cs typeface="Times New Roman" panose="02020603050405020304" pitchFamily="18" charset="0"/>
              </a:rPr>
              <a:t>Newer cars and automatic transmission vehicles generally command higher resale values.</a:t>
            </a:r>
          </a:p>
          <a:p>
            <a:pPr algn="just">
              <a:lnSpc>
                <a:spcPct val="150000"/>
              </a:lnSpc>
            </a:pPr>
            <a:r>
              <a:rPr lang="en-US" sz="2000" dirty="0">
                <a:latin typeface="Times New Roman" panose="02020603050405020304" pitchFamily="18" charset="0"/>
                <a:cs typeface="Times New Roman" panose="02020603050405020304" pitchFamily="18" charset="0"/>
              </a:rPr>
              <a:t>Popular brands and models were identified, revealing demand patterns and resale trends in the market.</a:t>
            </a:r>
          </a:p>
          <a:p>
            <a:pPr algn="just">
              <a:lnSpc>
                <a:spcPct val="150000"/>
              </a:lnSpc>
            </a:pPr>
            <a:r>
              <a:rPr lang="en-US" sz="2000" dirty="0">
                <a:latin typeface="Times New Roman" panose="02020603050405020304" pitchFamily="18" charset="0"/>
                <a:cs typeface="Times New Roman" panose="02020603050405020304" pitchFamily="18" charset="0"/>
              </a:rPr>
              <a:t>Overall, the project demonstrates how web scraping and data analysis can generate valuable, data-driven insights for the used car industry.</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041618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Q&amp;A icon | High Swartz LLP">
            <a:extLst>
              <a:ext uri="{FF2B5EF4-FFF2-40B4-BE49-F238E27FC236}">
                <a16:creationId xmlns:a16="http://schemas.microsoft.com/office/drawing/2014/main" id="{30EA60C9-B5EE-F5FD-D515-2094B556EF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910" y="1562099"/>
            <a:ext cx="8079658" cy="4039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4083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917987" y="3092073"/>
            <a:ext cx="5365207" cy="17954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Times New Roman" panose="02020603050405020304" pitchFamily="18" charset="0"/>
                <a:ea typeface="Libre Baskerville"/>
                <a:cs typeface="Times New Roman" panose="02020603050405020304" pitchFamily="18" charset="0"/>
                <a:sym typeface="Libre Baskerville"/>
              </a:rPr>
              <a:t>THANK  YOU</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2156</TotalTime>
  <Words>1213</Words>
  <Application>Microsoft Office PowerPoint</Application>
  <PresentationFormat>Widescreen</PresentationFormat>
  <Paragraphs>152</Paragraphs>
  <Slides>17</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Times New Roman</vt:lpstr>
      <vt:lpstr>Calibri</vt:lpstr>
      <vt:lpstr>Libre Baskerville</vt:lpstr>
      <vt:lpstr>Arial</vt:lpstr>
      <vt:lpstr>Wingdings</vt:lpstr>
      <vt:lpstr>Office Theme</vt:lpstr>
      <vt:lpstr>PowerPoint Presentation</vt:lpstr>
      <vt:lpstr>PowerPoint Presentation</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mekala chandrakiran</cp:lastModifiedBy>
  <cp:revision>81</cp:revision>
  <dcterms:created xsi:type="dcterms:W3CDTF">2021-02-16T05:19:01Z</dcterms:created>
  <dcterms:modified xsi:type="dcterms:W3CDTF">2026-01-09T09:54:02Z</dcterms:modified>
</cp:coreProperties>
</file>